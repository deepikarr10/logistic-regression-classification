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53084" y="1296060"/>
            <a:ext cx="4437831" cy="5486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1A1A1A"/>
                </a:solidFill>
              </a:rPr>
              <a:t>Logistic Regression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2353084" y="2294734"/>
            <a:ext cx="4437831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DC143C"/>
                </a:solidFill>
              </a:rPr>
              <a:t>A Powerful Tool for Binary Classification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2353084" y="2806210"/>
            <a:ext cx="44378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C2C2C"/>
                </a:solidFill>
              </a:rPr>
              <a:t>Predicting 10-Year Coronary Heart Disease Risk</a:t>
            </a:r>
            <a:pPr algn="ctr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C2C2C"/>
                </a:solidFill>
              </a:rPr>
              <a:t>
</a:t>
            </a:r>
            <a:pPr algn="ctr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C2C2C"/>
                </a:solidFill>
              </a:rPr>
              <a:t> Using the Framingham Heart Study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2353084" y="3692035"/>
            <a:ext cx="44378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66CC"/>
                </a:solidFill>
              </a:rPr>
              <a:t>Medical Data Science | Predictive Analytics | Healthcare AI</a:t>
            </a:r>
            <a:endParaRPr lang="en-US" sz="78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00483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357229"/>
            <a:ext cx="3729038" cy="24860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443413" y="428625"/>
            <a:ext cx="4557713" cy="59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Logistic Regression: Modeling Probability, Not Value</a:t>
            </a:r>
            <a:endParaRPr lang="en-US" sz="1602" dirty="0"/>
          </a:p>
        </p:txBody>
      </p:sp>
      <p:sp>
        <p:nvSpPr>
          <p:cNvPr id="5" name="Text 1"/>
          <p:cNvSpPr/>
          <p:nvPr/>
        </p:nvSpPr>
        <p:spPr>
          <a:xfrm>
            <a:off x="4443413" y="1237264"/>
            <a:ext cx="45577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DC143C"/>
                </a:solidFill>
              </a:rPr>
              <a:t>Classification Algorithm</a:t>
            </a:r>
            <a:endParaRPr lang="en-US" sz="683" dirty="0"/>
          </a:p>
        </p:txBody>
      </p:sp>
      <p:sp>
        <p:nvSpPr>
          <p:cNvPr id="6" name="Text 2"/>
          <p:cNvSpPr/>
          <p:nvPr/>
        </p:nvSpPr>
        <p:spPr>
          <a:xfrm>
            <a:off x="4443413" y="1430145"/>
            <a:ext cx="455771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</a:rPr>
              <a:t>Unlike Linear Regression (which predicts a continuous value), Logistic Regression is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</a:rPr>
              <a:t>used for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66CC"/>
                </a:solidFill>
              </a:rPr>
              <a:t>binary classification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</a:rPr>
              <a:t> (predicting one of two outcomes, e.g., Yes/No, 0/1).</a:t>
            </a:r>
            <a:endParaRPr lang="en-US" sz="834" dirty="0"/>
          </a:p>
        </p:txBody>
      </p:sp>
      <p:sp>
        <p:nvSpPr>
          <p:cNvPr id="7" name="Text 3"/>
          <p:cNvSpPr/>
          <p:nvPr/>
        </p:nvSpPr>
        <p:spPr>
          <a:xfrm>
            <a:off x="4443413" y="2088766"/>
            <a:ext cx="45577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DC143C"/>
                </a:solidFill>
              </a:rPr>
              <a:t>The Sigmoid Function</a:t>
            </a:r>
            <a:endParaRPr lang="en-US" sz="683" dirty="0"/>
          </a:p>
        </p:txBody>
      </p:sp>
      <p:sp>
        <p:nvSpPr>
          <p:cNvPr id="8" name="Text 4"/>
          <p:cNvSpPr/>
          <p:nvPr/>
        </p:nvSpPr>
        <p:spPr>
          <a:xfrm>
            <a:off x="4443413" y="2281647"/>
            <a:ext cx="455771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</a:rPr>
              <a:t>It uses the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66CC"/>
                </a:solidFill>
              </a:rPr>
              <a:t>Sigmoid (or Logit) function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</a:rPr>
              <a:t> to map any real-valued number into a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</a:rPr>
              <a:t>probability between 0 and 1.</a:t>
            </a:r>
            <a:endParaRPr lang="en-US" sz="834" dirty="0"/>
          </a:p>
        </p:txBody>
      </p:sp>
      <p:sp>
        <p:nvSpPr>
          <p:cNvPr id="9" name="Shape 5"/>
          <p:cNvSpPr/>
          <p:nvPr/>
        </p:nvSpPr>
        <p:spPr>
          <a:xfrm>
            <a:off x="4443413" y="2704523"/>
            <a:ext cx="4557713" cy="307181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Shape 6"/>
          <p:cNvSpPr/>
          <p:nvPr/>
        </p:nvSpPr>
        <p:spPr>
          <a:xfrm>
            <a:off x="4443413" y="2704523"/>
            <a:ext cx="28575" cy="307181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1" name="Text 7"/>
          <p:cNvSpPr/>
          <p:nvPr/>
        </p:nvSpPr>
        <p:spPr>
          <a:xfrm>
            <a:off x="4443413" y="2704523"/>
            <a:ext cx="4557713" cy="307181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P(Y=1) = 1 / (1 + e^(-z))</a:t>
            </a:r>
            <a:endParaRPr lang="en-US" sz="727" dirty="0"/>
          </a:p>
        </p:txBody>
      </p:sp>
      <p:sp>
        <p:nvSpPr>
          <p:cNvPr id="12" name="Text 8"/>
          <p:cNvSpPr/>
          <p:nvPr/>
        </p:nvSpPr>
        <p:spPr>
          <a:xfrm>
            <a:off x="4443413" y="3361748"/>
            <a:ext cx="45577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DC143C"/>
                </a:solidFill>
              </a:rPr>
              <a:t>Decision Boundary</a:t>
            </a:r>
            <a:endParaRPr lang="en-US" sz="683" dirty="0"/>
          </a:p>
        </p:txBody>
      </p:sp>
      <p:sp>
        <p:nvSpPr>
          <p:cNvPr id="13" name="Text 9"/>
          <p:cNvSpPr/>
          <p:nvPr/>
        </p:nvSpPr>
        <p:spPr>
          <a:xfrm>
            <a:off x="4443413" y="3554630"/>
            <a:ext cx="455771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</a:rPr>
              <a:t>A threshold (usually 0.5) is applied to the probability to classify the outcome. If P ≥ 0.5, classify as 1; otherwise, classify as 0.</a:t>
            </a:r>
            <a:endParaRPr lang="en-US" sz="834" dirty="0"/>
          </a:p>
        </p:txBody>
      </p:sp>
      <p:sp>
        <p:nvSpPr>
          <p:cNvPr id="14" name="Text 10"/>
          <p:cNvSpPr/>
          <p:nvPr/>
        </p:nvSpPr>
        <p:spPr>
          <a:xfrm>
            <a:off x="4443413" y="4213250"/>
            <a:ext cx="45577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DC143C"/>
                </a:solidFill>
              </a:rPr>
              <a:t>Real-World Example</a:t>
            </a:r>
            <a:endParaRPr lang="en-US" sz="683" dirty="0"/>
          </a:p>
        </p:txBody>
      </p:sp>
      <p:sp>
        <p:nvSpPr>
          <p:cNvPr id="15" name="Text 11"/>
          <p:cNvSpPr/>
          <p:nvPr/>
        </p:nvSpPr>
        <p:spPr>
          <a:xfrm>
            <a:off x="4443413" y="4406131"/>
            <a:ext cx="455771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</a:rPr>
              <a:t>Predicting if a customer will click an ad (Click/No Click), or if an email is spam (Spam/Not Spam).</a:t>
            </a:r>
            <a:endParaRPr lang="en-US" sz="83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59405"/>
            <a:ext cx="4143375" cy="59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Case Study: Predicting 10-Year Coronary Heart Disease (CHD) Risk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268044"/>
            <a:ext cx="41433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DC143C"/>
                </a:solidFill>
              </a:rPr>
              <a:t>The Framingham Heart Study (FHS)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428625" y="1460925"/>
            <a:ext cx="41433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</a:rPr>
              <a:t>A long-running, landmark cardiovascular study that provides a rich dataset of patient health metrics and outcomes spanning decades.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428625" y="2190983"/>
            <a:ext cx="41433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DC143C"/>
                </a:solidFill>
              </a:rPr>
              <a:t>The Goal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428625" y="2383864"/>
            <a:ext cx="4143375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</a:rPr>
              <a:t>To build a model that can predict a patient's risk of developing Coronary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</a:rPr>
              <a:t>Heart Disease (CHD) within the next 10 years. This is a critical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66CC"/>
                </a:solidFill>
              </a:rPr>
              <a:t>binary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66CC"/>
                </a:solidFill>
              </a:rPr>
              <a:t>classification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</a:rPr>
              <a:t> problem (CHD: Yes/No).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428625" y="3296785"/>
            <a:ext cx="41433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DC143C"/>
                </a:solidFill>
              </a:rPr>
              <a:t>Key Predictor Variables (Features)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428625" y="3502168"/>
            <a:ext cx="386563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</a:rPr>
              <a:t>The model uses a combination of demographic, behavioral, and medical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428625" y="3685031"/>
            <a:ext cx="40133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</a:rPr>
              <a:t>factors: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571500" y="3912543"/>
            <a:ext cx="40005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Age, Gender (male), Smoking Status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571500" y="4105424"/>
            <a:ext cx="40005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Blood Pressure (systolic, diastolic)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571500" y="4298305"/>
            <a:ext cx="40005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Cholesterol, Glucose, BMI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571500" y="4491186"/>
            <a:ext cx="40005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History of Diabetes and Hypertension</a:t>
            </a:r>
            <a:endParaRPr lang="en-US" sz="78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0" y="1190634"/>
            <a:ext cx="4143375" cy="27622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5026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382120"/>
            <a:ext cx="3729038" cy="24860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443413" y="428625"/>
            <a:ext cx="4557713" cy="59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Robust Data Cleaning Ensures Reliable Predictions</a:t>
            </a:r>
            <a:endParaRPr lang="en-US" sz="1602" dirty="0"/>
          </a:p>
        </p:txBody>
      </p:sp>
      <p:sp>
        <p:nvSpPr>
          <p:cNvPr id="5" name="Text 1"/>
          <p:cNvSpPr/>
          <p:nvPr/>
        </p:nvSpPr>
        <p:spPr>
          <a:xfrm>
            <a:off x="4443413" y="1237264"/>
            <a:ext cx="45577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DC143C"/>
                </a:solidFill>
              </a:rPr>
              <a:t>Initial Data State</a:t>
            </a:r>
            <a:endParaRPr lang="en-US" sz="683" dirty="0"/>
          </a:p>
        </p:txBody>
      </p:sp>
      <p:sp>
        <p:nvSpPr>
          <p:cNvPr id="6" name="Text 2"/>
          <p:cNvSpPr/>
          <p:nvPr/>
        </p:nvSpPr>
        <p:spPr>
          <a:xfrm>
            <a:off x="4443413" y="1430145"/>
            <a:ext cx="45577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The dataset contained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066CC"/>
                </a:solidFill>
              </a:rPr>
              <a:t>4,238 records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 with 16 features representing patient demographics,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lifestyle, and medical information.</a:t>
            </a:r>
            <a:endParaRPr lang="en-US" sz="780" dirty="0"/>
          </a:p>
        </p:txBody>
      </p:sp>
      <p:sp>
        <p:nvSpPr>
          <p:cNvPr id="7" name="Text 3"/>
          <p:cNvSpPr/>
          <p:nvPr/>
        </p:nvSpPr>
        <p:spPr>
          <a:xfrm>
            <a:off x="4443413" y="2065939"/>
            <a:ext cx="45577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DC143C"/>
                </a:solidFill>
              </a:rPr>
              <a:t>Handling Missing Data (Imputation)</a:t>
            </a:r>
            <a:endParaRPr lang="en-US" sz="683" dirty="0"/>
          </a:p>
        </p:txBody>
      </p:sp>
      <p:sp>
        <p:nvSpPr>
          <p:cNvPr id="8" name="Text 4"/>
          <p:cNvSpPr/>
          <p:nvPr/>
        </p:nvSpPr>
        <p:spPr>
          <a:xfrm>
            <a:off x="4443413" y="2258820"/>
            <a:ext cx="45577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Missing values in features like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066CC"/>
                </a:solidFill>
              </a:rPr>
              <a:t>cigsPerDay, totChol, BMI, and glucose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 were imputed using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the mean of the respective column.</a:t>
            </a:r>
            <a:endParaRPr lang="en-US" sz="780" dirty="0"/>
          </a:p>
        </p:txBody>
      </p:sp>
      <p:sp>
        <p:nvSpPr>
          <p:cNvPr id="9" name="Text 5"/>
          <p:cNvSpPr/>
          <p:nvPr/>
        </p:nvSpPr>
        <p:spPr>
          <a:xfrm>
            <a:off x="4443413" y="2644583"/>
            <a:ext cx="45577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i="1" dirty="0">
                <a:solidFill>
                  <a:srgbClr val="2C2C2C"/>
                </a:solidFill>
              </a:rPr>
              <a:t>Why Imputation? To retain valuable data points and prevent model bias from dropping too many rows.</a:t>
            </a:r>
            <a:endParaRPr lang="en-US" sz="727" dirty="0"/>
          </a:p>
        </p:txBody>
      </p:sp>
      <p:sp>
        <p:nvSpPr>
          <p:cNvPr id="10" name="Text 6"/>
          <p:cNvSpPr/>
          <p:nvPr/>
        </p:nvSpPr>
        <p:spPr>
          <a:xfrm>
            <a:off x="4443413" y="3073208"/>
            <a:ext cx="45577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DC143C"/>
                </a:solidFill>
              </a:rPr>
              <a:t>Feature Selection</a:t>
            </a:r>
            <a:endParaRPr lang="en-US" sz="683" dirty="0"/>
          </a:p>
        </p:txBody>
      </p:sp>
      <p:sp>
        <p:nvSpPr>
          <p:cNvPr id="11" name="Text 7"/>
          <p:cNvSpPr/>
          <p:nvPr/>
        </p:nvSpPr>
        <p:spPr>
          <a:xfrm>
            <a:off x="4443413" y="3266089"/>
            <a:ext cx="45577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The final model was trained on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066CC"/>
                </a:solidFill>
              </a:rPr>
              <a:t>15 features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, focusing on the most relevant risk factors for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heart disease prediction.</a:t>
            </a:r>
            <a:endParaRPr lang="en-US" sz="780" dirty="0"/>
          </a:p>
        </p:txBody>
      </p:sp>
      <p:sp>
        <p:nvSpPr>
          <p:cNvPr id="12" name="Text 8"/>
          <p:cNvSpPr/>
          <p:nvPr/>
        </p:nvSpPr>
        <p:spPr>
          <a:xfrm>
            <a:off x="4443413" y="3901883"/>
            <a:ext cx="45577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DC143C"/>
                </a:solidFill>
              </a:rPr>
              <a:t>Train-Test Split</a:t>
            </a:r>
            <a:endParaRPr lang="en-US" sz="683" dirty="0"/>
          </a:p>
        </p:txBody>
      </p:sp>
      <p:sp>
        <p:nvSpPr>
          <p:cNvPr id="13" name="Text 9"/>
          <p:cNvSpPr/>
          <p:nvPr/>
        </p:nvSpPr>
        <p:spPr>
          <a:xfrm>
            <a:off x="4443413" y="4094764"/>
            <a:ext cx="45577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The data was split into Training (75%) and Testing (25%) sets to evaluate the model's performance on unseen data.</a:t>
            </a:r>
            <a:endParaRPr lang="en-US" sz="780" dirty="0"/>
          </a:p>
        </p:txBody>
      </p:sp>
      <p:sp>
        <p:nvSpPr>
          <p:cNvPr id="14" name="Shape 10"/>
          <p:cNvSpPr/>
          <p:nvPr/>
        </p:nvSpPr>
        <p:spPr>
          <a:xfrm>
            <a:off x="4443413" y="4494814"/>
            <a:ext cx="4557713" cy="26967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Shape 11"/>
          <p:cNvSpPr/>
          <p:nvPr/>
        </p:nvSpPr>
        <p:spPr>
          <a:xfrm>
            <a:off x="4443413" y="4494814"/>
            <a:ext cx="21431" cy="269677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6" name="Text 12"/>
          <p:cNvSpPr/>
          <p:nvPr/>
        </p:nvSpPr>
        <p:spPr>
          <a:xfrm>
            <a:off x="4443413" y="4494814"/>
            <a:ext cx="4557713" cy="26967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Training: 3,178 records | Testing: 1,060 records</a:t>
            </a:r>
            <a:endParaRPr lang="en-US" sz="78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220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4143375" cy="59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Model Training and Evaluation: Beyond Simple Accuracy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237264"/>
            <a:ext cx="41433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DC143C"/>
                </a:solidFill>
              </a:rPr>
              <a:t>Model Training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428625" y="1430145"/>
            <a:ext cx="4143375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</a:rPr>
              <a:t>A Logistic Regression model was trained on the 75% training data (3,178 records) using 15 features to learn the relationship between patient characteristics and heart disease risk.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428625" y="2300204"/>
            <a:ext cx="41433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DC143C"/>
                </a:solidFill>
              </a:rPr>
              <a:t>Accuracy Score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428625" y="2493085"/>
            <a:ext cx="41433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</a:rPr>
              <a:t>The model's performance on both training and test data:</a:t>
            </a:r>
            <a:endParaRPr lang="en-US" sz="834" dirty="0"/>
          </a:p>
        </p:txBody>
      </p:sp>
      <p:sp>
        <p:nvSpPr>
          <p:cNvPr id="8" name="Shape 5"/>
          <p:cNvSpPr/>
          <p:nvPr/>
        </p:nvSpPr>
        <p:spPr>
          <a:xfrm>
            <a:off x="428625" y="2733098"/>
            <a:ext cx="4143375" cy="31789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6"/>
          <p:cNvSpPr/>
          <p:nvPr/>
        </p:nvSpPr>
        <p:spPr>
          <a:xfrm>
            <a:off x="428625" y="2733098"/>
            <a:ext cx="28575" cy="317897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0" name="Text 7"/>
          <p:cNvSpPr/>
          <p:nvPr/>
        </p:nvSpPr>
        <p:spPr>
          <a:xfrm>
            <a:off x="428625" y="2733098"/>
            <a:ext cx="4143375" cy="317897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1A1A1A"/>
                </a:solidFill>
              </a:rPr>
              <a:t>Training Data Accuracy: </a:t>
            </a:r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66CC"/>
                </a:solidFill>
              </a:rPr>
              <a:t>~84.8%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428625" y="3108145"/>
            <a:ext cx="4143375" cy="31789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Shape 9"/>
          <p:cNvSpPr/>
          <p:nvPr/>
        </p:nvSpPr>
        <p:spPr>
          <a:xfrm>
            <a:off x="428625" y="3108145"/>
            <a:ext cx="28575" cy="317897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3" name="Text 10"/>
          <p:cNvSpPr/>
          <p:nvPr/>
        </p:nvSpPr>
        <p:spPr>
          <a:xfrm>
            <a:off x="428625" y="3108145"/>
            <a:ext cx="4143375" cy="317897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1A1A1A"/>
                </a:solidFill>
              </a:rPr>
              <a:t>Test Data Accuracy: </a:t>
            </a:r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66CC"/>
                </a:solidFill>
              </a:rPr>
              <a:t>~86.0%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428625" y="3483192"/>
            <a:ext cx="41433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</a:rPr>
              <a:t>The model correctly predicts the outcome approximately 86% of the time on new, unseen data.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428625" y="4170387"/>
            <a:ext cx="41433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DC143C"/>
                </a:solidFill>
              </a:rPr>
              <a:t>The Challenge of Imbalanced Data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428625" y="4363269"/>
            <a:ext cx="4143375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</a:rPr>
              <a:t>The dataset is highly imbalanced: far more "No CHD" cases than "CHD"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</a:rPr>
              <a:t>cases. High accuracy can be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66CC"/>
                </a:solidFill>
              </a:rPr>
              <a:t>misleading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</a:rPr>
              <a:t> if the model is poor at predicting the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</a:rPr>
              <a:t>minority class (CHD).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428625" y="5233327"/>
            <a:ext cx="41433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DC143C"/>
                </a:solidFill>
              </a:rPr>
              <a:t>Advanced Metrics Required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428625" y="5426208"/>
            <a:ext cx="41433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</a:rPr>
              <a:t>We must examine Precision, Recall, and F1-Score for a complete picture, especially for the critical minority class (CHD, label 1).</a:t>
            </a:r>
            <a:endParaRPr lang="en-US" sz="834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0" y="1729150"/>
            <a:ext cx="4143375" cy="27622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6266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The True Cost of Misclassification: Precision and Recall</a:t>
            </a:r>
            <a:endParaRPr lang="en-US" sz="160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0" y="940101"/>
            <a:ext cx="2857500" cy="2857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4176220"/>
            <a:ext cx="376832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1" kern="0" dirty="0">
                <a:solidFill>
                  <a:srgbClr val="0066CC"/>
                </a:solidFill>
              </a:rPr>
              <a:t>Confusion Matrix Results (Test Data)</a:t>
            </a:r>
            <a:endParaRPr lang="en-US" sz="634" dirty="0"/>
          </a:p>
        </p:txBody>
      </p:sp>
      <p:sp>
        <p:nvSpPr>
          <p:cNvPr id="6" name="Text 2"/>
          <p:cNvSpPr/>
          <p:nvPr/>
        </p:nvSpPr>
        <p:spPr>
          <a:xfrm>
            <a:off x="571500" y="4374459"/>
            <a:ext cx="3768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2C2C2C"/>
                </a:solidFill>
              </a:rPr>
              <a:t>True Negatives: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 901 (No CHD, Predicted No CHD)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2C2C2C"/>
                </a:solidFill>
              </a:rPr>
              <a:t>False Positives: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 7 (No CHD, Predicted CHD)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2C2C2C"/>
                </a:solidFill>
              </a:rPr>
              <a:t>False Negatives: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 141 (CHD, Predicted No CHD)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2C2C2C"/>
                </a:solidFill>
              </a:rPr>
              <a:t>True Positives: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 11 (CHD, Predicted CHD)</a:t>
            </a:r>
            <a:endParaRPr lang="en-US" sz="734" dirty="0"/>
          </a:p>
        </p:txBody>
      </p:sp>
      <p:sp>
        <p:nvSpPr>
          <p:cNvPr id="7" name="Text 3"/>
          <p:cNvSpPr/>
          <p:nvPr/>
        </p:nvSpPr>
        <p:spPr>
          <a:xfrm>
            <a:off x="4804172" y="4176220"/>
            <a:ext cx="376832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1" kern="0" dirty="0">
                <a:solidFill>
                  <a:srgbClr val="DC143C"/>
                </a:solidFill>
              </a:rPr>
              <a:t>Recall for CHD (Label 1)</a:t>
            </a:r>
            <a:endParaRPr lang="en-US" sz="634" dirty="0"/>
          </a:p>
        </p:txBody>
      </p:sp>
      <p:sp>
        <p:nvSpPr>
          <p:cNvPr id="8" name="Text 4"/>
          <p:cNvSpPr/>
          <p:nvPr/>
        </p:nvSpPr>
        <p:spPr>
          <a:xfrm>
            <a:off x="4804172" y="4374459"/>
            <a:ext cx="376832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DC143C"/>
                </a:solidFill>
              </a:rPr>
              <a:t>~7%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4804172" y="4679854"/>
            <a:ext cx="376832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11 / (141 + 11) = 0.07</a:t>
            </a:r>
            <a:endParaRPr lang="en-US" sz="780" dirty="0"/>
          </a:p>
        </p:txBody>
      </p:sp>
      <p:sp>
        <p:nvSpPr>
          <p:cNvPr id="10" name="Text 6"/>
          <p:cNvSpPr/>
          <p:nvPr/>
        </p:nvSpPr>
        <p:spPr>
          <a:xfrm>
            <a:off x="4804172" y="4922741"/>
            <a:ext cx="3768328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i="1" dirty="0">
                <a:solidFill>
                  <a:srgbClr val="DC143C"/>
                </a:solidFill>
              </a:rPr>
              <a:t>CRITICAL WEAKNESS:</a:t>
            </a:r>
            <a:pPr algn="l" indent="0" marL="0">
              <a:lnSpc>
                <a:spcPts val="1200"/>
              </a:lnSpc>
              <a:buNone/>
            </a:pPr>
            <a:r>
              <a:rPr lang="en-US" sz="727" i="1" dirty="0">
                <a:solidFill>
                  <a:srgbClr val="2C2C2C"/>
                </a:solidFill>
              </a:rPr>
              <a:t> The model only correctly identifies 7% of actual heart disease </a:t>
            </a:r>
            <a:pPr algn="l" indent="0" marL="0">
              <a:lnSpc>
                <a:spcPts val="1200"/>
              </a:lnSpc>
              <a:buNone/>
            </a:pPr>
            <a:r>
              <a:rPr lang="en-US" sz="727" i="1" dirty="0">
                <a:solidFill>
                  <a:srgbClr val="2C2C2C"/>
                </a:solidFill>
              </a:rPr>
              <a:t>cases. This is </a:t>
            </a:r>
            <a:pPr algn="l" indent="0" marL="0">
              <a:lnSpc>
                <a:spcPts val="1200"/>
              </a:lnSpc>
              <a:buNone/>
            </a:pPr>
            <a:r>
              <a:rPr lang="en-US" sz="683" b="1" i="1" dirty="0">
                <a:solidFill>
                  <a:srgbClr val="DC143C"/>
                </a:solidFill>
              </a:rPr>
              <a:t>dangerously low</a:t>
            </a:r>
            <a:pPr algn="l" indent="0" marL="0">
              <a:lnSpc>
                <a:spcPts val="1200"/>
              </a:lnSpc>
              <a:buNone/>
            </a:pPr>
            <a:r>
              <a:rPr lang="en-US" sz="727" i="1" dirty="0">
                <a:solidFill>
                  <a:srgbClr val="2C2C2C"/>
                </a:solidFill>
              </a:rPr>
              <a:t> for a medical application, as missing a positive case </a:t>
            </a:r>
            <a:pPr algn="l" indent="0" marL="0">
              <a:lnSpc>
                <a:spcPts val="1200"/>
              </a:lnSpc>
              <a:buNone/>
            </a:pPr>
            <a:r>
              <a:rPr lang="en-US" sz="727" i="1" dirty="0">
                <a:solidFill>
                  <a:srgbClr val="2C2C2C"/>
                </a:solidFill>
              </a:rPr>
              <a:t>(False Negative) can have severe health consequences.</a:t>
            </a:r>
            <a:endParaRPr lang="en-US" sz="683" dirty="0"/>
          </a:p>
        </p:txBody>
      </p:sp>
      <p:sp>
        <p:nvSpPr>
          <p:cNvPr id="11" name="Text 7"/>
          <p:cNvSpPr/>
          <p:nvPr/>
        </p:nvSpPr>
        <p:spPr>
          <a:xfrm>
            <a:off x="571500" y="5858573"/>
            <a:ext cx="376832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1" kern="0" dirty="0">
                <a:solidFill>
                  <a:srgbClr val="0066CC"/>
                </a:solidFill>
              </a:rPr>
              <a:t>Precision for CHD (Label 1)</a:t>
            </a:r>
            <a:endParaRPr lang="en-US" sz="634" dirty="0"/>
          </a:p>
        </p:txBody>
      </p:sp>
      <p:sp>
        <p:nvSpPr>
          <p:cNvPr id="12" name="Text 8"/>
          <p:cNvSpPr/>
          <p:nvPr/>
        </p:nvSpPr>
        <p:spPr>
          <a:xfrm>
            <a:off x="571500" y="6056812"/>
            <a:ext cx="376832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66CC"/>
                </a:solidFill>
              </a:rPr>
              <a:t>~61%</a:t>
            </a:r>
            <a:endParaRPr lang="en-US" sz="1193" dirty="0"/>
          </a:p>
        </p:txBody>
      </p:sp>
      <p:sp>
        <p:nvSpPr>
          <p:cNvPr id="13" name="Text 9"/>
          <p:cNvSpPr/>
          <p:nvPr/>
        </p:nvSpPr>
        <p:spPr>
          <a:xfrm>
            <a:off x="571500" y="6362207"/>
            <a:ext cx="376832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11 / (7 + 11) = 0.61</a:t>
            </a:r>
            <a:endParaRPr lang="en-US" sz="780" dirty="0"/>
          </a:p>
        </p:txBody>
      </p:sp>
      <p:sp>
        <p:nvSpPr>
          <p:cNvPr id="14" name="Text 10"/>
          <p:cNvSpPr/>
          <p:nvPr/>
        </p:nvSpPr>
        <p:spPr>
          <a:xfrm>
            <a:off x="571500" y="6605095"/>
            <a:ext cx="3768328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i="1" dirty="0">
                <a:solidFill>
                  <a:srgbClr val="2C2C2C"/>
                </a:solidFill>
              </a:rPr>
              <a:t>When the model predicts heart disease, it is correct approximately 61% of the time. This moderate precision indicates a reasonable positive predictive value, but the low recall remains problematic.</a:t>
            </a:r>
            <a:endParaRPr lang="en-US" sz="727" dirty="0"/>
          </a:p>
        </p:txBody>
      </p:sp>
      <p:sp>
        <p:nvSpPr>
          <p:cNvPr id="15" name="Text 11"/>
          <p:cNvSpPr/>
          <p:nvPr/>
        </p:nvSpPr>
        <p:spPr>
          <a:xfrm>
            <a:off x="4804172" y="5858573"/>
            <a:ext cx="376832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1" kern="0" dirty="0">
                <a:solidFill>
                  <a:srgbClr val="DC143C"/>
                </a:solidFill>
              </a:rPr>
              <a:t>Key Finding</a:t>
            </a:r>
            <a:endParaRPr lang="en-US" sz="634" dirty="0"/>
          </a:p>
        </p:txBody>
      </p:sp>
      <p:sp>
        <p:nvSpPr>
          <p:cNvPr id="16" name="Text 12"/>
          <p:cNvSpPr/>
          <p:nvPr/>
        </p:nvSpPr>
        <p:spPr>
          <a:xfrm>
            <a:off x="4804172" y="6056812"/>
            <a:ext cx="3768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The model is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DC143C"/>
                </a:solidFill>
              </a:rPr>
              <a:t>highly biased towards the majority class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 ("No CHD"),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leading to a high overall accuracy (86%) but a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DC143C"/>
                </a:solidFill>
              </a:rPr>
              <a:t>dangerously low recall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 for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the critical "CHD" class. In medical prediction,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DC143C"/>
                </a:solidFill>
              </a:rPr>
              <a:t>Recall is more important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DC143C"/>
                </a:solidFill>
              </a:rPr>
              <a:t>than Accuracy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.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6706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Strategies for Building a More Robust Predictive Model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28625" y="1011538"/>
            <a:ext cx="4036219" cy="199737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011538"/>
            <a:ext cx="28575" cy="1997376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6" name="Text 3"/>
          <p:cNvSpPr/>
          <p:nvPr/>
        </p:nvSpPr>
        <p:spPr>
          <a:xfrm>
            <a:off x="607219" y="1190132"/>
            <a:ext cx="36790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DC143C"/>
                </a:solidFill>
              </a:rPr>
              <a:t>Strategy 1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607219" y="1411588"/>
            <a:ext cx="36790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Address Data Imbalance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607219" y="1672335"/>
            <a:ext cx="3679031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Techniques like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066CC"/>
                </a:solidFill>
              </a:rPr>
              <a:t>SMOTE (Synthetic Minority Over-sampling Technique)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 or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066CC"/>
                </a:solidFill>
              </a:rPr>
              <a:t>undersampling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 the majority class are crucial to give the model more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examples of the rare "CHD" event.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750094" y="2290270"/>
            <a:ext cx="353615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2C2C2C"/>
                </a:solidFill>
              </a:rPr>
              <a:t>SMOTE creates synthetic samples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750094" y="2470286"/>
            <a:ext cx="353615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2C2C2C"/>
                </a:solidFill>
              </a:rPr>
              <a:t>Balances class distribution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750094" y="2650303"/>
            <a:ext cx="353615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2C2C2C"/>
                </a:solidFill>
              </a:rPr>
              <a:t>Improves minority class detection</a:t>
            </a:r>
            <a:endParaRPr lang="en-US" sz="727" dirty="0"/>
          </a:p>
        </p:txBody>
      </p:sp>
      <p:sp>
        <p:nvSpPr>
          <p:cNvPr id="12" name="Shape 9"/>
          <p:cNvSpPr/>
          <p:nvPr/>
        </p:nvSpPr>
        <p:spPr>
          <a:xfrm>
            <a:off x="4679156" y="1011538"/>
            <a:ext cx="4036219" cy="199737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0"/>
          <p:cNvSpPr/>
          <p:nvPr/>
        </p:nvSpPr>
        <p:spPr>
          <a:xfrm>
            <a:off x="4679156" y="1011538"/>
            <a:ext cx="28575" cy="1997376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4" name="Text 11"/>
          <p:cNvSpPr/>
          <p:nvPr/>
        </p:nvSpPr>
        <p:spPr>
          <a:xfrm>
            <a:off x="4857750" y="1190132"/>
            <a:ext cx="36790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DC143C"/>
                </a:solidFill>
              </a:rPr>
              <a:t>Strategy 2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4857750" y="1411588"/>
            <a:ext cx="36790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Feature Scaling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4857750" y="1672335"/>
            <a:ext cx="3679031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Standardizing or normalizing the numerical features (e.g., age, cholesterol, blood pressure) will prevent features with larger scales from dominating the model's coefficients.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5000625" y="2290270"/>
            <a:ext cx="353615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2C2C2C"/>
                </a:solidFill>
              </a:rPr>
              <a:t>StandardScaler for normalization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5000625" y="2470286"/>
            <a:ext cx="353615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2C2C2C"/>
                </a:solidFill>
              </a:rPr>
              <a:t>MinMaxScaler for range scaling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5000625" y="2650303"/>
            <a:ext cx="353615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2C2C2C"/>
                </a:solidFill>
              </a:rPr>
              <a:t>Improves convergence speed</a:t>
            </a:r>
            <a:endParaRPr lang="en-US" sz="727" dirty="0"/>
          </a:p>
        </p:txBody>
      </p:sp>
      <p:sp>
        <p:nvSpPr>
          <p:cNvPr id="20" name="Shape 17"/>
          <p:cNvSpPr/>
          <p:nvPr/>
        </p:nvSpPr>
        <p:spPr>
          <a:xfrm>
            <a:off x="428625" y="3223227"/>
            <a:ext cx="4036219" cy="181521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Shape 18"/>
          <p:cNvSpPr/>
          <p:nvPr/>
        </p:nvSpPr>
        <p:spPr>
          <a:xfrm>
            <a:off x="428625" y="3223227"/>
            <a:ext cx="28575" cy="181521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22" name="Text 19"/>
          <p:cNvSpPr/>
          <p:nvPr/>
        </p:nvSpPr>
        <p:spPr>
          <a:xfrm>
            <a:off x="607219" y="3401820"/>
            <a:ext cx="36790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DC143C"/>
                </a:solidFill>
              </a:rPr>
              <a:t>Strategy 3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607219" y="3623277"/>
            <a:ext cx="36790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Hyperparameter Tuning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607219" y="3884023"/>
            <a:ext cx="3679031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Optimize the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066CC"/>
                </a:solidFill>
              </a:rPr>
              <a:t>LogisticRegression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 solver and regularization parameters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(e.g., C value) to improve generalization and model performance.</a:t>
            </a:r>
            <a:endParaRPr lang="en-US" sz="780" dirty="0"/>
          </a:p>
        </p:txBody>
      </p:sp>
      <p:sp>
        <p:nvSpPr>
          <p:cNvPr id="25" name="Text 22"/>
          <p:cNvSpPr/>
          <p:nvPr/>
        </p:nvSpPr>
        <p:spPr>
          <a:xfrm>
            <a:off x="750094" y="4319792"/>
            <a:ext cx="353615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2C2C2C"/>
                </a:solidFill>
              </a:rPr>
              <a:t>Grid search or random search</a:t>
            </a:r>
            <a:endParaRPr lang="en-US" sz="727" dirty="0"/>
          </a:p>
        </p:txBody>
      </p:sp>
      <p:sp>
        <p:nvSpPr>
          <p:cNvPr id="26" name="Text 23"/>
          <p:cNvSpPr/>
          <p:nvPr/>
        </p:nvSpPr>
        <p:spPr>
          <a:xfrm>
            <a:off x="750094" y="4499809"/>
            <a:ext cx="353615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2C2C2C"/>
                </a:solidFill>
              </a:rPr>
              <a:t>Adjust regularization strength (C)</a:t>
            </a:r>
            <a:endParaRPr lang="en-US" sz="727" dirty="0"/>
          </a:p>
        </p:txBody>
      </p:sp>
      <p:sp>
        <p:nvSpPr>
          <p:cNvPr id="27" name="Text 24"/>
          <p:cNvSpPr/>
          <p:nvPr/>
        </p:nvSpPr>
        <p:spPr>
          <a:xfrm>
            <a:off x="750094" y="4679826"/>
            <a:ext cx="353615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2C2C2C"/>
                </a:solidFill>
              </a:rPr>
              <a:t>Cross-validation for validation</a:t>
            </a:r>
            <a:endParaRPr lang="en-US" sz="727" dirty="0"/>
          </a:p>
        </p:txBody>
      </p:sp>
      <p:sp>
        <p:nvSpPr>
          <p:cNvPr id="28" name="Shape 25"/>
          <p:cNvSpPr/>
          <p:nvPr/>
        </p:nvSpPr>
        <p:spPr>
          <a:xfrm>
            <a:off x="4679156" y="3223227"/>
            <a:ext cx="4036219" cy="181521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Shape 26"/>
          <p:cNvSpPr/>
          <p:nvPr/>
        </p:nvSpPr>
        <p:spPr>
          <a:xfrm>
            <a:off x="4679156" y="3223227"/>
            <a:ext cx="28575" cy="181521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0" name="Text 27"/>
          <p:cNvSpPr/>
          <p:nvPr/>
        </p:nvSpPr>
        <p:spPr>
          <a:xfrm>
            <a:off x="4857750" y="3401820"/>
            <a:ext cx="36790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DC143C"/>
                </a:solidFill>
              </a:rPr>
              <a:t>Strategy 4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4857750" y="3623277"/>
            <a:ext cx="36790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Explore Alternative Models</a:t>
            </a:r>
            <a:endParaRPr lang="en-US" sz="885" dirty="0"/>
          </a:p>
        </p:txBody>
      </p:sp>
      <p:sp>
        <p:nvSpPr>
          <p:cNvPr id="32" name="Text 29"/>
          <p:cNvSpPr/>
          <p:nvPr/>
        </p:nvSpPr>
        <p:spPr>
          <a:xfrm>
            <a:off x="4857750" y="3884023"/>
            <a:ext cx="3679031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For imbalanced data, tree-based models like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066CC"/>
                </a:solidFill>
              </a:rPr>
              <a:t>Random Forest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 or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066CC"/>
                </a:solidFill>
              </a:rPr>
              <a:t>Gradient Boosting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 often perform better and should be tested.</a:t>
            </a:r>
            <a:endParaRPr lang="en-US" sz="780" dirty="0"/>
          </a:p>
        </p:txBody>
      </p:sp>
      <p:sp>
        <p:nvSpPr>
          <p:cNvPr id="33" name="Text 30"/>
          <p:cNvSpPr/>
          <p:nvPr/>
        </p:nvSpPr>
        <p:spPr>
          <a:xfrm>
            <a:off x="5000625" y="4319792"/>
            <a:ext cx="353615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2C2C2C"/>
                </a:solidFill>
              </a:rPr>
              <a:t>Random Forest for ensemble learning</a:t>
            </a:r>
            <a:endParaRPr lang="en-US" sz="727" dirty="0"/>
          </a:p>
        </p:txBody>
      </p:sp>
      <p:sp>
        <p:nvSpPr>
          <p:cNvPr id="34" name="Text 31"/>
          <p:cNvSpPr/>
          <p:nvPr/>
        </p:nvSpPr>
        <p:spPr>
          <a:xfrm>
            <a:off x="5000625" y="4499809"/>
            <a:ext cx="353615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2C2C2C"/>
                </a:solidFill>
              </a:rPr>
              <a:t>XGBoost for advanced boosting</a:t>
            </a:r>
            <a:endParaRPr lang="en-US" sz="727" dirty="0"/>
          </a:p>
        </p:txBody>
      </p:sp>
      <p:sp>
        <p:nvSpPr>
          <p:cNvPr id="35" name="Text 32"/>
          <p:cNvSpPr/>
          <p:nvPr/>
        </p:nvSpPr>
        <p:spPr>
          <a:xfrm>
            <a:off x="5000625" y="4679826"/>
            <a:ext cx="353615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2C2C2C"/>
                </a:solidFill>
              </a:rPr>
              <a:t>Compare performance metrics</a:t>
            </a:r>
            <a:endParaRPr lang="en-US" sz="72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77246"/>
            <a:ext cx="800100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Logistic Regression: A Powerful Start, But Context is Key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642938" y="1431596"/>
            <a:ext cx="378618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DC143C"/>
                </a:solidFill>
              </a:rPr>
              <a:t>1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642938" y="1988809"/>
            <a:ext cx="3786188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Foundation Algorithm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642938" y="2241686"/>
            <a:ext cx="37861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Logistic Regression is the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066CC"/>
                </a:solidFill>
              </a:rPr>
              <a:t>go-to algorithm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 for initial binary classification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problems, providing a simple, interpretable baseline that's easy to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understand and deploy.</a:t>
            </a:r>
            <a:endParaRPr lang="en-US" sz="780" dirty="0"/>
          </a:p>
        </p:txBody>
      </p:sp>
      <p:sp>
        <p:nvSpPr>
          <p:cNvPr id="7" name="Text 4"/>
          <p:cNvSpPr/>
          <p:nvPr/>
        </p:nvSpPr>
        <p:spPr>
          <a:xfrm>
            <a:off x="4714875" y="1431596"/>
            <a:ext cx="378618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DC143C"/>
                </a:solidFill>
              </a:rPr>
              <a:t>2</a:t>
            </a:r>
            <a:endParaRPr lang="en-US" sz="2436" dirty="0"/>
          </a:p>
        </p:txBody>
      </p:sp>
      <p:sp>
        <p:nvSpPr>
          <p:cNvPr id="8" name="Text 5"/>
          <p:cNvSpPr/>
          <p:nvPr/>
        </p:nvSpPr>
        <p:spPr>
          <a:xfrm>
            <a:off x="4714875" y="1988809"/>
            <a:ext cx="3786188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Accuracy is Not Enough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4714875" y="2241686"/>
            <a:ext cx="37861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The model achieved 86% accuracy but highlighted the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DC143C"/>
                </a:solidFill>
              </a:rPr>
              <a:t>danger of relying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DC143C"/>
                </a:solidFill>
              </a:rPr>
              <a:t>solely on accuracy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 in imbalanced datasets. High accuracy can mask poor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performance on minority classes.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642938" y="3041786"/>
            <a:ext cx="378618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DC143C"/>
                </a:solidFill>
              </a:rPr>
              <a:t>3</a:t>
            </a:r>
            <a:endParaRPr lang="en-US" sz="2436" dirty="0"/>
          </a:p>
        </p:txBody>
      </p:sp>
      <p:sp>
        <p:nvSpPr>
          <p:cNvPr id="11" name="Text 8"/>
          <p:cNvSpPr/>
          <p:nvPr/>
        </p:nvSpPr>
        <p:spPr>
          <a:xfrm>
            <a:off x="642938" y="3598999"/>
            <a:ext cx="3786188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Recall Matters Most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642938" y="3851877"/>
            <a:ext cx="37861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In critical applications like medicine,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DC143C"/>
                </a:solidFill>
              </a:rPr>
              <a:t>Recall (minimizing False Negatives)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 for the positive class is often more important than overall accuracy. Missing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a disease case is clinically dangerous.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4714875" y="3041786"/>
            <a:ext cx="378618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DC143C"/>
                </a:solidFill>
              </a:rPr>
              <a:t>4</a:t>
            </a:r>
            <a:endParaRPr lang="en-US" sz="2436" dirty="0"/>
          </a:p>
        </p:txBody>
      </p:sp>
      <p:sp>
        <p:nvSpPr>
          <p:cNvPr id="14" name="Text 11"/>
          <p:cNvSpPr/>
          <p:nvPr/>
        </p:nvSpPr>
        <p:spPr>
          <a:xfrm>
            <a:off x="4714875" y="3598999"/>
            <a:ext cx="3786188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Path Forward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4714875" y="3851877"/>
            <a:ext cx="37861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Future work must focus on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066CC"/>
                </a:solidFill>
              </a:rPr>
              <a:t>data balancing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 and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066CC"/>
                </a:solidFill>
              </a:rPr>
              <a:t>feature engineering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 to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create a clinically useful model with high recall for heart disease prediction.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2025-11-10T15:17:20Z</dcterms:created>
  <dcterms:modified xsi:type="dcterms:W3CDTF">2025-11-10T15:17:20Z</dcterms:modified>
</cp:coreProperties>
</file>