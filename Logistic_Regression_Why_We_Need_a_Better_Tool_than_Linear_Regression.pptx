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1403077"/>
            <a:ext cx="3775472" cy="10972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4300"/>
              </a:lnSpc>
              <a:buNone/>
            </a:pPr>
            <a:r>
              <a:rPr lang="en-US" sz="3294" b="1" dirty="0">
                <a:solidFill>
                  <a:srgbClr val="1A1A1A"/>
                </a:solidFill>
              </a:rPr>
              <a:t>Logistic Regression</a:t>
            </a:r>
            <a:endParaRPr lang="en-US" sz="3294" dirty="0"/>
          </a:p>
        </p:txBody>
      </p:sp>
      <p:sp>
        <p:nvSpPr>
          <p:cNvPr id="4" name="Text 1"/>
          <p:cNvSpPr/>
          <p:nvPr/>
        </p:nvSpPr>
        <p:spPr>
          <a:xfrm>
            <a:off x="428625" y="2643188"/>
            <a:ext cx="3775472" cy="10972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4300"/>
              </a:lnSpc>
              <a:buNone/>
            </a:pPr>
            <a:r>
              <a:rPr lang="en-US" sz="3294" b="1" dirty="0">
                <a:solidFill>
                  <a:srgbClr val="D32F2F"/>
                </a:solidFill>
              </a:rPr>
              <a:t>Why We Need a Better Tool</a:t>
            </a:r>
            <a:endParaRPr lang="en-US" sz="3294" dirty="0"/>
          </a:p>
        </p:txBody>
      </p:sp>
      <p:sp>
        <p:nvSpPr>
          <p:cNvPr id="5" name="Shape 2"/>
          <p:cNvSpPr/>
          <p:nvPr/>
        </p:nvSpPr>
        <p:spPr>
          <a:xfrm>
            <a:off x="4632722" y="2101714"/>
            <a:ext cx="4082653" cy="94007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4632722" y="2101714"/>
            <a:ext cx="21431" cy="940073"/>
          </a:xfrm>
          <a:prstGeom prst="rect">
            <a:avLst/>
          </a:prstGeom>
          <a:solidFill>
            <a:srgbClr val="1976D2"/>
          </a:solidFill>
          <a:ln/>
        </p:spPr>
      </p:sp>
      <p:sp>
        <p:nvSpPr>
          <p:cNvPr id="7" name="Text 4"/>
          <p:cNvSpPr/>
          <p:nvPr/>
        </p:nvSpPr>
        <p:spPr>
          <a:xfrm>
            <a:off x="4929188" y="2101714"/>
            <a:ext cx="3786188" cy="6400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704" dirty="0">
                <a:solidFill>
                  <a:srgbClr val="4A4A4A"/>
                </a:solidFill>
              </a:rPr>
              <a:t>Understanding Classification and Key Evaluation Metrics</a:t>
            </a:r>
            <a:endParaRPr lang="en-US" sz="1704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3857625" cy="29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602" b="1" dirty="0">
                <a:solidFill>
                  <a:srgbClr val="1A1A1A"/>
                </a:solidFill>
              </a:rPr>
              <a:t>When the Answer Isn't a Number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592931" y="940101"/>
            <a:ext cx="369331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A1A1A"/>
                </a:solidFill>
              </a:rPr>
              <a:t>Linear Regression (Recap)</a:t>
            </a:r>
            <a:endParaRPr lang="en-US" sz="784" dirty="0"/>
          </a:p>
        </p:txBody>
      </p:sp>
      <p:sp>
        <p:nvSpPr>
          <p:cNvPr id="5" name="Text 2"/>
          <p:cNvSpPr/>
          <p:nvPr/>
        </p:nvSpPr>
        <p:spPr>
          <a:xfrm>
            <a:off x="592931" y="1154413"/>
            <a:ext cx="3693319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4A4A4A"/>
                </a:solidFill>
              </a:rPr>
              <a:t>Used when output is </a:t>
            </a:r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D32F2F"/>
                </a:solidFill>
              </a:rPr>
              <a:t>continuous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4A4A4A"/>
                </a:solidFill>
              </a:rPr>
              <a:t> (house price, temperature, age)</a:t>
            </a:r>
            <a:endParaRPr lang="en-US" sz="727" dirty="0"/>
          </a:p>
        </p:txBody>
      </p:sp>
      <p:sp>
        <p:nvSpPr>
          <p:cNvPr id="6" name="Text 3"/>
          <p:cNvSpPr/>
          <p:nvPr/>
        </p:nvSpPr>
        <p:spPr>
          <a:xfrm>
            <a:off x="592931" y="1475882"/>
            <a:ext cx="369331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A1A1A"/>
                </a:solidFill>
              </a:rPr>
              <a:t>The New Challenge</a:t>
            </a:r>
            <a:endParaRPr lang="en-US" sz="784" dirty="0"/>
          </a:p>
        </p:txBody>
      </p:sp>
      <p:sp>
        <p:nvSpPr>
          <p:cNvPr id="7" name="Text 4"/>
          <p:cNvSpPr/>
          <p:nvPr/>
        </p:nvSpPr>
        <p:spPr>
          <a:xfrm>
            <a:off x="592931" y="1690195"/>
            <a:ext cx="3693319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4A4A4A"/>
                </a:solidFill>
              </a:rPr>
              <a:t>What if output is </a:t>
            </a:r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D32F2F"/>
                </a:solidFill>
              </a:rPr>
              <a:t>categorical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4A4A4A"/>
                </a:solidFill>
              </a:rPr>
              <a:t>? (Yes/No, Spam/Not Spam, Pass/Fail)</a:t>
            </a:r>
            <a:endParaRPr lang="en-US" sz="727" dirty="0"/>
          </a:p>
        </p:txBody>
      </p:sp>
      <p:sp>
        <p:nvSpPr>
          <p:cNvPr id="8" name="Text 5"/>
          <p:cNvSpPr/>
          <p:nvPr/>
        </p:nvSpPr>
        <p:spPr>
          <a:xfrm>
            <a:off x="592931" y="2011663"/>
            <a:ext cx="369331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A1A1A"/>
                </a:solidFill>
              </a:rPr>
              <a:t>The Critical Problem</a:t>
            </a:r>
            <a:endParaRPr lang="en-US" sz="784" dirty="0"/>
          </a:p>
        </p:txBody>
      </p:sp>
      <p:sp>
        <p:nvSpPr>
          <p:cNvPr id="9" name="Text 6"/>
          <p:cNvSpPr/>
          <p:nvPr/>
        </p:nvSpPr>
        <p:spPr>
          <a:xfrm>
            <a:off x="592931" y="2225976"/>
            <a:ext cx="3693319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4A4A4A"/>
                </a:solidFill>
              </a:rPr>
              <a:t>Linear Regression outputs values like -0.5, 0.3, 1.2 for binary predictions (0 or 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4A4A4A"/>
                </a:solidFill>
              </a:rPr>
              <a:t>1). These values are </a:t>
            </a:r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D32F2F"/>
                </a:solidFill>
              </a:rPr>
              <a:t>meaningless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4A4A4A"/>
                </a:solidFill>
              </a:rPr>
              <a:t> for classification.</a:t>
            </a:r>
            <a:endParaRPr lang="en-US" sz="727" dirty="0"/>
          </a:p>
        </p:txBody>
      </p:sp>
      <p:sp>
        <p:nvSpPr>
          <p:cNvPr id="10" name="Text 7"/>
          <p:cNvSpPr/>
          <p:nvPr/>
        </p:nvSpPr>
        <p:spPr>
          <a:xfrm>
            <a:off x="592931" y="2697463"/>
            <a:ext cx="369331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A1A1A"/>
                </a:solidFill>
              </a:rPr>
              <a:t>Outlier Vulnerability</a:t>
            </a:r>
            <a:endParaRPr lang="en-US" sz="784" dirty="0"/>
          </a:p>
        </p:txBody>
      </p:sp>
      <p:sp>
        <p:nvSpPr>
          <p:cNvPr id="11" name="Text 8"/>
          <p:cNvSpPr/>
          <p:nvPr/>
        </p:nvSpPr>
        <p:spPr>
          <a:xfrm>
            <a:off x="592931" y="2911776"/>
            <a:ext cx="3693319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4A4A4A"/>
                </a:solidFill>
              </a:rPr>
              <a:t>A single outlier (e.g., student with 100 study hours who failed) </a:t>
            </a:r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D32F2F"/>
                </a:solidFill>
              </a:rPr>
              <a:t>distorts the </a:t>
            </a:r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D32F2F"/>
                </a:solidFill>
              </a:rPr>
              <a:t>decision boundary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4A4A4A"/>
                </a:solidFill>
              </a:rPr>
              <a:t>, making predictions unreliable.</a:t>
            </a:r>
            <a:endParaRPr lang="en-US" sz="727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4875" y="1214438"/>
            <a:ext cx="4000500" cy="271462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3857625" cy="5943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602" b="1" dirty="0">
                <a:solidFill>
                  <a:srgbClr val="1A1A1A"/>
                </a:solidFill>
              </a:rPr>
              <a:t>Turning a Straight Line into an "S" Curve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592931" y="1237264"/>
            <a:ext cx="3693319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1A1A1A"/>
                </a:solidFill>
              </a:rPr>
              <a:t>The Goal</a:t>
            </a:r>
            <a:endParaRPr lang="en-US" sz="734" dirty="0"/>
          </a:p>
        </p:txBody>
      </p:sp>
      <p:sp>
        <p:nvSpPr>
          <p:cNvPr id="5" name="Text 2"/>
          <p:cNvSpPr/>
          <p:nvPr/>
        </p:nvSpPr>
        <p:spPr>
          <a:xfrm>
            <a:off x="592931" y="1440861"/>
            <a:ext cx="3693319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4A4A4A"/>
                </a:solidFill>
              </a:rPr>
              <a:t>Map any input value to output strictly between </a:t>
            </a:r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D32F2F"/>
                </a:solidFill>
              </a:rPr>
              <a:t>0 and 1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4A4A4A"/>
                </a:solidFill>
              </a:rPr>
              <a:t>. This output is 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4A4A4A"/>
                </a:solidFill>
              </a:rPr>
              <a:t>interpreted as a </a:t>
            </a:r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D32F2F"/>
                </a:solidFill>
              </a:rPr>
              <a:t>probability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4A4A4A"/>
                </a:solidFill>
              </a:rPr>
              <a:t>.</a:t>
            </a:r>
            <a:endParaRPr lang="en-US" sz="727" dirty="0"/>
          </a:p>
        </p:txBody>
      </p:sp>
      <p:sp>
        <p:nvSpPr>
          <p:cNvPr id="6" name="Text 3"/>
          <p:cNvSpPr/>
          <p:nvPr/>
        </p:nvSpPr>
        <p:spPr>
          <a:xfrm>
            <a:off x="592931" y="1898061"/>
            <a:ext cx="3693319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1A1A1A"/>
                </a:solidFill>
              </a:rPr>
              <a:t>The Sigmoid Function</a:t>
            </a:r>
            <a:endParaRPr lang="en-US" sz="734" dirty="0"/>
          </a:p>
        </p:txBody>
      </p:sp>
      <p:sp>
        <p:nvSpPr>
          <p:cNvPr id="7" name="Shape 4"/>
          <p:cNvSpPr/>
          <p:nvPr/>
        </p:nvSpPr>
        <p:spPr>
          <a:xfrm>
            <a:off x="592931" y="2115945"/>
            <a:ext cx="3693319" cy="310753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8" name="Shape 5"/>
          <p:cNvSpPr/>
          <p:nvPr/>
        </p:nvSpPr>
        <p:spPr>
          <a:xfrm>
            <a:off x="592931" y="2115945"/>
            <a:ext cx="21431" cy="310753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9" name="Text 6"/>
          <p:cNvSpPr/>
          <p:nvPr/>
        </p:nvSpPr>
        <p:spPr>
          <a:xfrm>
            <a:off x="592931" y="2115945"/>
            <a:ext cx="3693319" cy="310753"/>
          </a:xfrm>
          <a:prstGeom prst="rect">
            <a:avLst/>
          </a:prstGeom>
          <a:noFill/>
          <a:ln/>
        </p:spPr>
        <p:txBody>
          <a:bodyPr wrap="square" lIns="136017" tIns="102108" rIns="136017" bIns="102108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1A1A1A"/>
                </a:solidFill>
              </a:rPr>
              <a:t>P(Y=1) = 1 / (1 + e^(-z))</a:t>
            </a:r>
            <a:endParaRPr lang="en-US" sz="674" dirty="0"/>
          </a:p>
        </p:txBody>
      </p:sp>
      <p:sp>
        <p:nvSpPr>
          <p:cNvPr id="10" name="Text 7"/>
          <p:cNvSpPr/>
          <p:nvPr/>
        </p:nvSpPr>
        <p:spPr>
          <a:xfrm>
            <a:off x="592931" y="2483848"/>
            <a:ext cx="3693319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4A4A4A"/>
                </a:solidFill>
              </a:rPr>
              <a:t>Where z = b₀ + b₁X₁ + b₂X₂ + ...</a:t>
            </a:r>
            <a:endParaRPr lang="en-US" sz="727" dirty="0"/>
          </a:p>
        </p:txBody>
      </p:sp>
      <p:sp>
        <p:nvSpPr>
          <p:cNvPr id="11" name="Text 8"/>
          <p:cNvSpPr/>
          <p:nvPr/>
        </p:nvSpPr>
        <p:spPr>
          <a:xfrm>
            <a:off x="592931" y="2791030"/>
            <a:ext cx="3693319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1A1A1A"/>
                </a:solidFill>
              </a:rPr>
              <a:t>What It Does</a:t>
            </a:r>
            <a:endParaRPr lang="en-US" sz="734" dirty="0"/>
          </a:p>
        </p:txBody>
      </p:sp>
      <p:sp>
        <p:nvSpPr>
          <p:cNvPr id="12" name="Text 9"/>
          <p:cNvSpPr/>
          <p:nvPr/>
        </p:nvSpPr>
        <p:spPr>
          <a:xfrm>
            <a:off x="592931" y="2994627"/>
            <a:ext cx="3693319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4A4A4A"/>
                </a:solidFill>
              </a:rPr>
              <a:t>Takes the linear output (z) and </a:t>
            </a:r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D32F2F"/>
                </a:solidFill>
              </a:rPr>
              <a:t>squashes it into a beautiful S-shaped curve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4A4A4A"/>
                </a:solidFill>
              </a:rPr>
              <a:t>. 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4A4A4A"/>
                </a:solidFill>
              </a:rPr>
              <a:t>No more impossible values!</a:t>
            </a:r>
            <a:endParaRPr lang="en-US" sz="727" dirty="0"/>
          </a:p>
        </p:txBody>
      </p:sp>
      <p:sp>
        <p:nvSpPr>
          <p:cNvPr id="13" name="Text 10"/>
          <p:cNvSpPr/>
          <p:nvPr/>
        </p:nvSpPr>
        <p:spPr>
          <a:xfrm>
            <a:off x="592931" y="3451827"/>
            <a:ext cx="3693319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1A1A1A"/>
                </a:solidFill>
              </a:rPr>
              <a:t>The Result</a:t>
            </a:r>
            <a:endParaRPr lang="en-US" sz="734" dirty="0"/>
          </a:p>
        </p:txBody>
      </p:sp>
      <p:sp>
        <p:nvSpPr>
          <p:cNvPr id="14" name="Text 11"/>
          <p:cNvSpPr/>
          <p:nvPr/>
        </p:nvSpPr>
        <p:spPr>
          <a:xfrm>
            <a:off x="592931" y="3655423"/>
            <a:ext cx="3693319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4A4A4A"/>
                </a:solidFill>
              </a:rPr>
              <a:t>Model predicts probability of the event (e.g., P(Passing) = 0.85)</a:t>
            </a:r>
            <a:endParaRPr lang="en-US" sz="727" dirty="0"/>
          </a:p>
        </p:txBody>
      </p:sp>
      <p:sp>
        <p:nvSpPr>
          <p:cNvPr id="15" name="Text 12"/>
          <p:cNvSpPr/>
          <p:nvPr/>
        </p:nvSpPr>
        <p:spPr>
          <a:xfrm>
            <a:off x="592931" y="3962605"/>
            <a:ext cx="3693319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1A1A1A"/>
                </a:solidFill>
              </a:rPr>
              <a:t>Decision Boundary</a:t>
            </a:r>
            <a:endParaRPr lang="en-US" sz="734" dirty="0"/>
          </a:p>
        </p:txBody>
      </p:sp>
      <p:sp>
        <p:nvSpPr>
          <p:cNvPr id="16" name="Text 13"/>
          <p:cNvSpPr/>
          <p:nvPr/>
        </p:nvSpPr>
        <p:spPr>
          <a:xfrm>
            <a:off x="592931" y="4166202"/>
            <a:ext cx="3693319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4A4A4A"/>
                </a:solidFill>
              </a:rPr>
              <a:t>Threshold at 0.5: If P ≥ 0.5 → Classify as 1 (Pass). If P &lt; 0.5 → Classify as 0 (Fail).</a:t>
            </a:r>
            <a:endParaRPr lang="en-US" sz="727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4875" y="1214438"/>
            <a:ext cx="4000500" cy="271462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8286750" cy="29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602" b="1" dirty="0">
                <a:solidFill>
                  <a:srgbClr val="1A1A1A"/>
                </a:solidFill>
              </a:rPr>
              <a:t>Real-World Application: Predicting Customer Churn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428625" y="1011538"/>
            <a:ext cx="3964781" cy="292894"/>
          </a:xfrm>
          <a:prstGeom prst="rect">
            <a:avLst/>
          </a:prstGeom>
          <a:noFill/>
          <a:ln/>
        </p:spPr>
        <p:txBody>
          <a:bodyPr wrap="square" lIns="0" tIns="0" rIns="0" bIns="102108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1A1A1A"/>
                </a:solidFill>
              </a:rPr>
              <a:t>The Scenario</a:t>
            </a:r>
            <a:endParaRPr lang="en-US" sz="885" dirty="0"/>
          </a:p>
        </p:txBody>
      </p:sp>
      <p:sp>
        <p:nvSpPr>
          <p:cNvPr id="5" name="Text 2"/>
          <p:cNvSpPr/>
          <p:nvPr/>
        </p:nvSpPr>
        <p:spPr>
          <a:xfrm>
            <a:off x="564356" y="1418732"/>
            <a:ext cx="382905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1A1A1A"/>
                </a:solidFill>
              </a:rPr>
              <a:t>Organization</a:t>
            </a:r>
            <a:endParaRPr lang="en-US" sz="683" dirty="0"/>
          </a:p>
        </p:txBody>
      </p:sp>
      <p:sp>
        <p:nvSpPr>
          <p:cNvPr id="6" name="Text 3"/>
          <p:cNvSpPr/>
          <p:nvPr/>
        </p:nvSpPr>
        <p:spPr>
          <a:xfrm>
            <a:off x="564356" y="1597326"/>
            <a:ext cx="382905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4A4A4A"/>
                </a:solidFill>
              </a:rPr>
              <a:t>Telecom company with thousands of customers</a:t>
            </a:r>
            <a:endParaRPr lang="en-US" sz="727" dirty="0"/>
          </a:p>
        </p:txBody>
      </p:sp>
      <p:sp>
        <p:nvSpPr>
          <p:cNvPr id="7" name="Text 4"/>
          <p:cNvSpPr/>
          <p:nvPr/>
        </p:nvSpPr>
        <p:spPr>
          <a:xfrm>
            <a:off x="564356" y="1875932"/>
            <a:ext cx="382905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1A1A1A"/>
                </a:solidFill>
              </a:rPr>
              <a:t>Prediction Target</a:t>
            </a:r>
            <a:endParaRPr lang="en-US" sz="683" dirty="0"/>
          </a:p>
        </p:txBody>
      </p:sp>
      <p:sp>
        <p:nvSpPr>
          <p:cNvPr id="8" name="Text 5"/>
          <p:cNvSpPr/>
          <p:nvPr/>
        </p:nvSpPr>
        <p:spPr>
          <a:xfrm>
            <a:off x="564356" y="2054526"/>
            <a:ext cx="382905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4A4A4A"/>
                </a:solidFill>
              </a:rPr>
              <a:t>Will a customer </a:t>
            </a:r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D32F2F"/>
                </a:solidFill>
              </a:rPr>
              <a:t>churn (1)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4A4A4A"/>
                </a:solidFill>
              </a:rPr>
              <a:t> or </a:t>
            </a:r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D32F2F"/>
                </a:solidFill>
              </a:rPr>
              <a:t>stay (0)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4A4A4A"/>
                </a:solidFill>
              </a:rPr>
              <a:t>?</a:t>
            </a:r>
            <a:endParaRPr lang="en-US" sz="727" dirty="0"/>
          </a:p>
        </p:txBody>
      </p:sp>
      <p:sp>
        <p:nvSpPr>
          <p:cNvPr id="9" name="Text 6"/>
          <p:cNvSpPr/>
          <p:nvPr/>
        </p:nvSpPr>
        <p:spPr>
          <a:xfrm>
            <a:off x="564356" y="2333132"/>
            <a:ext cx="382905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1A1A1A"/>
                </a:solidFill>
              </a:rPr>
              <a:t>Input Variables</a:t>
            </a:r>
            <a:endParaRPr lang="en-US" sz="683" dirty="0"/>
          </a:p>
        </p:txBody>
      </p:sp>
      <p:sp>
        <p:nvSpPr>
          <p:cNvPr id="10" name="Text 7"/>
          <p:cNvSpPr/>
          <p:nvPr/>
        </p:nvSpPr>
        <p:spPr>
          <a:xfrm>
            <a:off x="564356" y="2511726"/>
            <a:ext cx="382905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4A4A4A"/>
                </a:solidFill>
              </a:rPr>
              <a:t>Monthly usage (minutes) and contract length (months)</a:t>
            </a:r>
            <a:endParaRPr lang="en-US" sz="727" dirty="0"/>
          </a:p>
        </p:txBody>
      </p:sp>
      <p:sp>
        <p:nvSpPr>
          <p:cNvPr id="11" name="Text 8"/>
          <p:cNvSpPr/>
          <p:nvPr/>
        </p:nvSpPr>
        <p:spPr>
          <a:xfrm>
            <a:off x="4750594" y="1011538"/>
            <a:ext cx="3964781" cy="292894"/>
          </a:xfrm>
          <a:prstGeom prst="rect">
            <a:avLst/>
          </a:prstGeom>
          <a:noFill/>
          <a:ln/>
        </p:spPr>
        <p:txBody>
          <a:bodyPr wrap="square" lIns="0" tIns="0" rIns="0" bIns="102108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1A1A1A"/>
                </a:solidFill>
              </a:rPr>
              <a:t>What the Model Reveals</a:t>
            </a:r>
            <a:endParaRPr lang="en-US" sz="885" dirty="0"/>
          </a:p>
        </p:txBody>
      </p:sp>
      <p:sp>
        <p:nvSpPr>
          <p:cNvPr id="12" name="Shape 9"/>
          <p:cNvSpPr/>
          <p:nvPr/>
        </p:nvSpPr>
        <p:spPr>
          <a:xfrm>
            <a:off x="4750594" y="1504457"/>
            <a:ext cx="3964781" cy="610791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3" name="Shape 10"/>
          <p:cNvSpPr/>
          <p:nvPr/>
        </p:nvSpPr>
        <p:spPr>
          <a:xfrm>
            <a:off x="4750594" y="1504457"/>
            <a:ext cx="28575" cy="610791"/>
          </a:xfrm>
          <a:prstGeom prst="rect">
            <a:avLst/>
          </a:prstGeom>
          <a:solidFill>
            <a:srgbClr val="1976D2"/>
          </a:solidFill>
          <a:ln/>
        </p:spPr>
      </p:sp>
      <p:sp>
        <p:nvSpPr>
          <p:cNvPr id="14" name="Text 11"/>
          <p:cNvSpPr/>
          <p:nvPr/>
        </p:nvSpPr>
        <p:spPr>
          <a:xfrm>
            <a:off x="4864894" y="1618757"/>
            <a:ext cx="3736181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D32F2F"/>
                </a:solidFill>
              </a:rPr>
              <a:t>P(Churn) = 0.90</a:t>
            </a:r>
            <a:endParaRPr lang="en-US" sz="987" dirty="0"/>
          </a:p>
        </p:txBody>
      </p:sp>
      <p:sp>
        <p:nvSpPr>
          <p:cNvPr id="15" name="Text 12"/>
          <p:cNvSpPr/>
          <p:nvPr/>
        </p:nvSpPr>
        <p:spPr>
          <a:xfrm>
            <a:off x="4864894" y="1861645"/>
            <a:ext cx="3736181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4A4A4A"/>
                </a:solidFill>
              </a:rPr>
              <a:t>Customers with low usage + short contract</a:t>
            </a:r>
            <a:endParaRPr lang="en-US" sz="674" dirty="0"/>
          </a:p>
        </p:txBody>
      </p:sp>
      <p:sp>
        <p:nvSpPr>
          <p:cNvPr id="16" name="Text 13"/>
          <p:cNvSpPr/>
          <p:nvPr/>
        </p:nvSpPr>
        <p:spPr>
          <a:xfrm>
            <a:off x="4886325" y="2200973"/>
            <a:ext cx="382905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1A1A1A"/>
                </a:solidFill>
              </a:rPr>
              <a:t>Key Insight</a:t>
            </a:r>
            <a:endParaRPr lang="en-US" sz="683" dirty="0"/>
          </a:p>
        </p:txBody>
      </p:sp>
      <p:sp>
        <p:nvSpPr>
          <p:cNvPr id="17" name="Text 14"/>
          <p:cNvSpPr/>
          <p:nvPr/>
        </p:nvSpPr>
        <p:spPr>
          <a:xfrm>
            <a:off x="4886325" y="2379566"/>
            <a:ext cx="3829050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4A4A4A"/>
                </a:solidFill>
              </a:rPr>
              <a:t>Logistic Regression doesn't just say "this customer will churn." It quantifies the </a:t>
            </a:r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D32F2F"/>
                </a:solidFill>
              </a:rPr>
              <a:t>probability and certainty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4A4A4A"/>
                </a:solidFill>
              </a:rPr>
              <a:t> of that prediction.</a:t>
            </a:r>
            <a:endParaRPr lang="en-US" sz="727" dirty="0"/>
          </a:p>
        </p:txBody>
      </p:sp>
      <p:sp>
        <p:nvSpPr>
          <p:cNvPr id="18" name="Text 15"/>
          <p:cNvSpPr/>
          <p:nvPr/>
        </p:nvSpPr>
        <p:spPr>
          <a:xfrm>
            <a:off x="4886325" y="2808191"/>
            <a:ext cx="382905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1A1A1A"/>
                </a:solidFill>
              </a:rPr>
              <a:t>Business Action</a:t>
            </a:r>
            <a:endParaRPr lang="en-US" sz="683" dirty="0"/>
          </a:p>
        </p:txBody>
      </p:sp>
      <p:sp>
        <p:nvSpPr>
          <p:cNvPr id="19" name="Text 16"/>
          <p:cNvSpPr/>
          <p:nvPr/>
        </p:nvSpPr>
        <p:spPr>
          <a:xfrm>
            <a:off x="4886325" y="2986785"/>
            <a:ext cx="3829050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4A4A4A"/>
                </a:solidFill>
              </a:rPr>
              <a:t>Target high-probability churners with </a:t>
            </a:r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D32F2F"/>
                </a:solidFill>
              </a:rPr>
              <a:t>retention offers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4A4A4A"/>
                </a:solidFill>
              </a:rPr>
              <a:t> and personalized 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4A4A4A"/>
                </a:solidFill>
              </a:rPr>
              <a:t>engagement.</a:t>
            </a:r>
            <a:endParaRPr lang="en-US" sz="727" dirty="0"/>
          </a:p>
        </p:txBody>
      </p:sp>
      <p:sp>
        <p:nvSpPr>
          <p:cNvPr id="20" name="Shape 17"/>
          <p:cNvSpPr/>
          <p:nvPr/>
        </p:nvSpPr>
        <p:spPr>
          <a:xfrm>
            <a:off x="428625" y="3987664"/>
            <a:ext cx="8286750" cy="727211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21" name="Shape 18"/>
          <p:cNvSpPr/>
          <p:nvPr/>
        </p:nvSpPr>
        <p:spPr>
          <a:xfrm>
            <a:off x="428625" y="3987664"/>
            <a:ext cx="8286750" cy="714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2" name="Text 19"/>
          <p:cNvSpPr/>
          <p:nvPr/>
        </p:nvSpPr>
        <p:spPr>
          <a:xfrm>
            <a:off x="428625" y="4137682"/>
            <a:ext cx="82867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A1A1A"/>
                </a:solidFill>
              </a:rPr>
              <a:t>Key Takeaway</a:t>
            </a:r>
            <a:endParaRPr lang="en-US" sz="784" dirty="0"/>
          </a:p>
        </p:txBody>
      </p:sp>
      <p:sp>
        <p:nvSpPr>
          <p:cNvPr id="23" name="Text 20"/>
          <p:cNvSpPr/>
          <p:nvPr/>
        </p:nvSpPr>
        <p:spPr>
          <a:xfrm>
            <a:off x="428625" y="4394857"/>
            <a:ext cx="8286750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4A4A4A"/>
                </a:solidFill>
              </a:rPr>
              <a:t>Logistic Regression provides not just a classification (Yes/No), but the </a:t>
            </a:r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D32F2F"/>
                </a:solidFill>
              </a:rPr>
              <a:t>certainty (probability)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4A4A4A"/>
                </a:solidFill>
              </a:rPr>
              <a:t> behind that classification. This probability is crucial for making data-driven 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4A4A4A"/>
                </a:solidFill>
              </a:rPr>
              <a:t>business decisions, prioritizing resources, and maximizing ROI on customer retention campaigns.</a:t>
            </a:r>
            <a:endParaRPr lang="en-US" sz="727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46209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57188"/>
            <a:ext cx="8001000" cy="29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602" b="1" dirty="0">
                <a:solidFill>
                  <a:srgbClr val="1A1A1A"/>
                </a:solidFill>
              </a:rPr>
              <a:t>Beyond Just "Correct"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571500" y="854376"/>
            <a:ext cx="8001000" cy="171450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A1A1A"/>
                </a:solidFill>
              </a:rPr>
              <a:t>The Scenario: Predicting a Rare Disease</a:t>
            </a:r>
            <a:endParaRPr lang="en-US" sz="784" dirty="0"/>
          </a:p>
        </p:txBody>
      </p:sp>
      <p:sp>
        <p:nvSpPr>
          <p:cNvPr id="5" name="Shape 2"/>
          <p:cNvSpPr/>
          <p:nvPr/>
        </p:nvSpPr>
        <p:spPr>
          <a:xfrm>
            <a:off x="714375" y="1111551"/>
            <a:ext cx="3879056" cy="496491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6" name="Shape 3"/>
          <p:cNvSpPr/>
          <p:nvPr/>
        </p:nvSpPr>
        <p:spPr>
          <a:xfrm>
            <a:off x="714375" y="1111551"/>
            <a:ext cx="21431" cy="496491"/>
          </a:xfrm>
          <a:prstGeom prst="rect">
            <a:avLst/>
          </a:prstGeom>
          <a:solidFill>
            <a:srgbClr val="1976D2"/>
          </a:solidFill>
          <a:ln/>
        </p:spPr>
      </p:sp>
      <p:sp>
        <p:nvSpPr>
          <p:cNvPr id="7" name="Text 4"/>
          <p:cNvSpPr/>
          <p:nvPr/>
        </p:nvSpPr>
        <p:spPr>
          <a:xfrm>
            <a:off x="814388" y="1182988"/>
            <a:ext cx="3679031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4A4A4A"/>
                </a:solidFill>
              </a:rPr>
              <a:t>Total Patients</a:t>
            </a:r>
            <a:endParaRPr lang="en-US" sz="674" dirty="0"/>
          </a:p>
        </p:txBody>
      </p:sp>
      <p:sp>
        <p:nvSpPr>
          <p:cNvPr id="8" name="Text 5"/>
          <p:cNvSpPr/>
          <p:nvPr/>
        </p:nvSpPr>
        <p:spPr>
          <a:xfrm>
            <a:off x="814388" y="1343723"/>
            <a:ext cx="3679031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1A1A1A"/>
                </a:solidFill>
              </a:rPr>
              <a:t>1,000</a:t>
            </a:r>
            <a:endParaRPr lang="en-US" sz="885" dirty="0"/>
          </a:p>
        </p:txBody>
      </p:sp>
      <p:sp>
        <p:nvSpPr>
          <p:cNvPr id="9" name="Shape 6"/>
          <p:cNvSpPr/>
          <p:nvPr/>
        </p:nvSpPr>
        <p:spPr>
          <a:xfrm>
            <a:off x="4693444" y="1111551"/>
            <a:ext cx="3879056" cy="496491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0" name="Shape 7"/>
          <p:cNvSpPr/>
          <p:nvPr/>
        </p:nvSpPr>
        <p:spPr>
          <a:xfrm>
            <a:off x="4693444" y="1111551"/>
            <a:ext cx="21431" cy="496491"/>
          </a:xfrm>
          <a:prstGeom prst="rect">
            <a:avLst/>
          </a:prstGeom>
          <a:solidFill>
            <a:srgbClr val="1976D2"/>
          </a:solidFill>
          <a:ln/>
        </p:spPr>
      </p:sp>
      <p:sp>
        <p:nvSpPr>
          <p:cNvPr id="11" name="Text 8"/>
          <p:cNvSpPr/>
          <p:nvPr/>
        </p:nvSpPr>
        <p:spPr>
          <a:xfrm>
            <a:off x="4793456" y="1182988"/>
            <a:ext cx="3679031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4A4A4A"/>
                </a:solidFill>
              </a:rPr>
              <a:t>Healthy (0)</a:t>
            </a:r>
            <a:endParaRPr lang="en-US" sz="674" dirty="0"/>
          </a:p>
        </p:txBody>
      </p:sp>
      <p:sp>
        <p:nvSpPr>
          <p:cNvPr id="12" name="Text 9"/>
          <p:cNvSpPr/>
          <p:nvPr/>
        </p:nvSpPr>
        <p:spPr>
          <a:xfrm>
            <a:off x="4793456" y="1343723"/>
            <a:ext cx="3679031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1A1A1A"/>
                </a:solidFill>
              </a:rPr>
              <a:t>990</a:t>
            </a:r>
            <a:endParaRPr lang="en-US" sz="885" dirty="0"/>
          </a:p>
        </p:txBody>
      </p:sp>
      <p:sp>
        <p:nvSpPr>
          <p:cNvPr id="13" name="Shape 10"/>
          <p:cNvSpPr/>
          <p:nvPr/>
        </p:nvSpPr>
        <p:spPr>
          <a:xfrm>
            <a:off x="714375" y="1708054"/>
            <a:ext cx="3879056" cy="496491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4" name="Shape 11"/>
          <p:cNvSpPr/>
          <p:nvPr/>
        </p:nvSpPr>
        <p:spPr>
          <a:xfrm>
            <a:off x="714375" y="1708054"/>
            <a:ext cx="21431" cy="496491"/>
          </a:xfrm>
          <a:prstGeom prst="rect">
            <a:avLst/>
          </a:prstGeom>
          <a:solidFill>
            <a:srgbClr val="1976D2"/>
          </a:solidFill>
          <a:ln/>
        </p:spPr>
      </p:sp>
      <p:sp>
        <p:nvSpPr>
          <p:cNvPr id="15" name="Text 12"/>
          <p:cNvSpPr/>
          <p:nvPr/>
        </p:nvSpPr>
        <p:spPr>
          <a:xfrm>
            <a:off x="814388" y="1779491"/>
            <a:ext cx="3679031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4A4A4A"/>
                </a:solidFill>
              </a:rPr>
              <a:t>Disease (1)</a:t>
            </a:r>
            <a:endParaRPr lang="en-US" sz="674" dirty="0"/>
          </a:p>
        </p:txBody>
      </p:sp>
      <p:sp>
        <p:nvSpPr>
          <p:cNvPr id="16" name="Text 13"/>
          <p:cNvSpPr/>
          <p:nvPr/>
        </p:nvSpPr>
        <p:spPr>
          <a:xfrm>
            <a:off x="814388" y="1940226"/>
            <a:ext cx="3679031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1A1A1A"/>
                </a:solidFill>
              </a:rPr>
              <a:t>10</a:t>
            </a:r>
            <a:endParaRPr lang="en-US" sz="885" dirty="0"/>
          </a:p>
        </p:txBody>
      </p:sp>
      <p:sp>
        <p:nvSpPr>
          <p:cNvPr id="17" name="Shape 14"/>
          <p:cNvSpPr/>
          <p:nvPr/>
        </p:nvSpPr>
        <p:spPr>
          <a:xfrm>
            <a:off x="4693444" y="1708054"/>
            <a:ext cx="3879056" cy="496491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8" name="Shape 15"/>
          <p:cNvSpPr/>
          <p:nvPr/>
        </p:nvSpPr>
        <p:spPr>
          <a:xfrm>
            <a:off x="4693444" y="1708054"/>
            <a:ext cx="21431" cy="496491"/>
          </a:xfrm>
          <a:prstGeom prst="rect">
            <a:avLst/>
          </a:prstGeom>
          <a:solidFill>
            <a:srgbClr val="1976D2"/>
          </a:solidFill>
          <a:ln/>
        </p:spPr>
      </p:sp>
      <p:sp>
        <p:nvSpPr>
          <p:cNvPr id="19" name="Text 16"/>
          <p:cNvSpPr/>
          <p:nvPr/>
        </p:nvSpPr>
        <p:spPr>
          <a:xfrm>
            <a:off x="4793456" y="1779491"/>
            <a:ext cx="3679031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4A4A4A"/>
                </a:solidFill>
              </a:rPr>
              <a:t>Disease Prevalence</a:t>
            </a:r>
            <a:endParaRPr lang="en-US" sz="674" dirty="0"/>
          </a:p>
        </p:txBody>
      </p:sp>
      <p:sp>
        <p:nvSpPr>
          <p:cNvPr id="20" name="Text 17"/>
          <p:cNvSpPr/>
          <p:nvPr/>
        </p:nvSpPr>
        <p:spPr>
          <a:xfrm>
            <a:off x="4793456" y="1940226"/>
            <a:ext cx="3679031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1A1A1A"/>
                </a:solidFill>
              </a:rPr>
              <a:t>1%</a:t>
            </a:r>
            <a:endParaRPr lang="en-US" sz="885" dirty="0"/>
          </a:p>
        </p:txBody>
      </p:sp>
      <p:sp>
        <p:nvSpPr>
          <p:cNvPr id="21" name="Text 18"/>
          <p:cNvSpPr/>
          <p:nvPr/>
        </p:nvSpPr>
        <p:spPr>
          <a:xfrm>
            <a:off x="571500" y="2418857"/>
            <a:ext cx="8001000" cy="171450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A1A1A"/>
                </a:solidFill>
              </a:rPr>
              <a:t>The Dummy Model</a:t>
            </a:r>
            <a:endParaRPr lang="en-US" sz="784" dirty="0"/>
          </a:p>
        </p:txBody>
      </p:sp>
      <p:sp>
        <p:nvSpPr>
          <p:cNvPr id="22" name="Text 19"/>
          <p:cNvSpPr/>
          <p:nvPr/>
        </p:nvSpPr>
        <p:spPr>
          <a:xfrm>
            <a:off x="714375" y="2676032"/>
            <a:ext cx="7858125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1A1A1A"/>
                </a:solidFill>
              </a:rPr>
              <a:t>A model that predicts </a:t>
            </a:r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D32F2F"/>
                </a:solidFill>
              </a:rPr>
              <a:t>EVERYONE as healthy (0)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1A1A1A"/>
                </a:solidFill>
              </a:rPr>
              <a:t> would make exactly 990 correct predictions out of 1000.</a:t>
            </a:r>
            <a:endParaRPr lang="en-US" sz="727" dirty="0"/>
          </a:p>
        </p:txBody>
      </p:sp>
      <p:sp>
        <p:nvSpPr>
          <p:cNvPr id="23" name="Text 20"/>
          <p:cNvSpPr/>
          <p:nvPr/>
        </p:nvSpPr>
        <p:spPr>
          <a:xfrm>
            <a:off x="571500" y="2954638"/>
            <a:ext cx="8001000" cy="171450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A1A1A"/>
                </a:solidFill>
              </a:rPr>
              <a:t>The Misleading Accuracy</a:t>
            </a:r>
            <a:endParaRPr lang="en-US" sz="784" dirty="0"/>
          </a:p>
        </p:txBody>
      </p:sp>
      <p:sp>
        <p:nvSpPr>
          <p:cNvPr id="24" name="Shape 21"/>
          <p:cNvSpPr/>
          <p:nvPr/>
        </p:nvSpPr>
        <p:spPr>
          <a:xfrm>
            <a:off x="571500" y="3211813"/>
            <a:ext cx="8001000" cy="735806"/>
          </a:xfrm>
          <a:prstGeom prst="rect">
            <a:avLst/>
          </a:prstGeom>
          <a:solidFill>
            <a:srgbClr val="FFF3F3"/>
          </a:solidFill>
          <a:ln/>
        </p:spPr>
      </p:sp>
      <p:sp>
        <p:nvSpPr>
          <p:cNvPr id="25" name="Shape 22"/>
          <p:cNvSpPr/>
          <p:nvPr/>
        </p:nvSpPr>
        <p:spPr>
          <a:xfrm>
            <a:off x="571500" y="3211813"/>
            <a:ext cx="28575" cy="735806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26" name="Text 23"/>
          <p:cNvSpPr/>
          <p:nvPr/>
        </p:nvSpPr>
        <p:spPr>
          <a:xfrm>
            <a:off x="685800" y="3311826"/>
            <a:ext cx="777240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1A1A1A"/>
                </a:solidFill>
              </a:rPr>
              <a:t>Accuracy = Correct Predictions / Total Predictions</a:t>
            </a:r>
            <a:endParaRPr lang="en-US" sz="727" dirty="0"/>
          </a:p>
        </p:txBody>
      </p:sp>
      <p:sp>
        <p:nvSpPr>
          <p:cNvPr id="27" name="Text 24"/>
          <p:cNvSpPr/>
          <p:nvPr/>
        </p:nvSpPr>
        <p:spPr>
          <a:xfrm>
            <a:off x="685800" y="3504707"/>
            <a:ext cx="777240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D32F2F"/>
                </a:solidFill>
              </a:rPr>
              <a:t>Accuracy = 990 / 1000 = 99%</a:t>
            </a:r>
            <a:endParaRPr lang="en-US" sz="683" dirty="0"/>
          </a:p>
        </p:txBody>
      </p:sp>
      <p:sp>
        <p:nvSpPr>
          <p:cNvPr id="28" name="Text 25"/>
          <p:cNvSpPr/>
          <p:nvPr/>
        </p:nvSpPr>
        <p:spPr>
          <a:xfrm>
            <a:off x="685800" y="3697588"/>
            <a:ext cx="777240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1A1A1A"/>
                </a:solidFill>
              </a:rPr>
              <a:t>This model appears </a:t>
            </a:r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D32F2F"/>
                </a:solidFill>
              </a:rPr>
              <a:t>excellent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1A1A1A"/>
                </a:solidFill>
              </a:rPr>
              <a:t>, yet it is </a:t>
            </a:r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D32F2F"/>
                </a:solidFill>
              </a:rPr>
              <a:t>completely useless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1A1A1A"/>
                </a:solidFill>
              </a:rPr>
              <a:t>.</a:t>
            </a:r>
            <a:endParaRPr lang="en-US" sz="727" dirty="0"/>
          </a:p>
        </p:txBody>
      </p:sp>
      <p:sp>
        <p:nvSpPr>
          <p:cNvPr id="29" name="Text 26"/>
          <p:cNvSpPr/>
          <p:nvPr/>
        </p:nvSpPr>
        <p:spPr>
          <a:xfrm>
            <a:off x="571500" y="4147645"/>
            <a:ext cx="8001000" cy="171450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A1A1A"/>
                </a:solidFill>
              </a:rPr>
              <a:t>The Critical Flaw</a:t>
            </a:r>
            <a:endParaRPr lang="en-US" sz="784" dirty="0"/>
          </a:p>
        </p:txBody>
      </p:sp>
      <p:sp>
        <p:nvSpPr>
          <p:cNvPr id="30" name="Text 27"/>
          <p:cNvSpPr/>
          <p:nvPr/>
        </p:nvSpPr>
        <p:spPr>
          <a:xfrm>
            <a:off x="714375" y="4404820"/>
            <a:ext cx="7858125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1A1A1A"/>
                </a:solidFill>
              </a:rPr>
              <a:t>The model </a:t>
            </a:r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D32F2F"/>
                </a:solidFill>
              </a:rPr>
              <a:t>misses all 10 true disease cases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1A1A1A"/>
                </a:solidFill>
              </a:rPr>
              <a:t>. In healthcare, this is a </a:t>
            </a:r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D32F2F"/>
                </a:solidFill>
              </a:rPr>
              <a:t>catastrophic failure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1A1A1A"/>
                </a:solidFill>
              </a:rPr>
              <a:t>. Patients with the disease go undiagnosed and untreated.</a:t>
            </a:r>
            <a:endParaRPr lang="en-US" sz="727" dirty="0"/>
          </a:p>
        </p:txBody>
      </p:sp>
      <p:sp>
        <p:nvSpPr>
          <p:cNvPr id="31" name="Shape 28"/>
          <p:cNvSpPr/>
          <p:nvPr/>
        </p:nvSpPr>
        <p:spPr>
          <a:xfrm>
            <a:off x="571500" y="4754863"/>
            <a:ext cx="8001000" cy="350044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2" name="Shape 29"/>
          <p:cNvSpPr/>
          <p:nvPr/>
        </p:nvSpPr>
        <p:spPr>
          <a:xfrm>
            <a:off x="571500" y="4754863"/>
            <a:ext cx="28575" cy="350044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33" name="Text 30"/>
          <p:cNvSpPr/>
          <p:nvPr/>
        </p:nvSpPr>
        <p:spPr>
          <a:xfrm>
            <a:off x="685800" y="4854876"/>
            <a:ext cx="777240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1976D2"/>
                </a:solidFill>
              </a:rPr>
              <a:t>Conclusion: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4A4A4A"/>
                </a:solidFill>
              </a:rPr>
              <a:t> For classification, especially with real-world imbalanced data, we need </a:t>
            </a:r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D32F2F"/>
                </a:solidFill>
              </a:rPr>
              <a:t>more sophisticated metrics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4A4A4A"/>
                </a:solidFill>
              </a:rPr>
              <a:t> that reveal where the model actually fails.</a:t>
            </a:r>
            <a:endParaRPr lang="en-US" sz="683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25" y="1071563"/>
            <a:ext cx="4000500" cy="300037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857750" y="428625"/>
            <a:ext cx="3857625" cy="5943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602" b="1" dirty="0">
                <a:solidFill>
                  <a:srgbClr val="1A1A1A"/>
                </a:solidFill>
              </a:rPr>
              <a:t>Breaking Down Prediction Outcomes</a:t>
            </a:r>
            <a:endParaRPr lang="en-US" sz="1602" dirty="0"/>
          </a:p>
        </p:txBody>
      </p:sp>
      <p:sp>
        <p:nvSpPr>
          <p:cNvPr id="5" name="Text 1"/>
          <p:cNvSpPr/>
          <p:nvPr/>
        </p:nvSpPr>
        <p:spPr>
          <a:xfrm>
            <a:off x="5000625" y="1351564"/>
            <a:ext cx="1600200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1976D2"/>
                </a:solidFill>
              </a:rPr>
              <a:t>TP</a:t>
            </a:r>
            <a:endParaRPr lang="en-US" sz="634" dirty="0"/>
          </a:p>
        </p:txBody>
      </p:sp>
      <p:sp>
        <p:nvSpPr>
          <p:cNvPr id="6" name="Text 2"/>
          <p:cNvSpPr/>
          <p:nvPr/>
        </p:nvSpPr>
        <p:spPr>
          <a:xfrm>
            <a:off x="5000625" y="1548017"/>
            <a:ext cx="1600200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4A4A4A"/>
                </a:solidFill>
              </a:rPr>
              <a:t>True Positive</a:t>
            </a:r>
            <a:endParaRPr lang="en-US" sz="674" dirty="0"/>
          </a:p>
        </p:txBody>
      </p:sp>
      <p:sp>
        <p:nvSpPr>
          <p:cNvPr id="7" name="Text 3"/>
          <p:cNvSpPr/>
          <p:nvPr/>
        </p:nvSpPr>
        <p:spPr>
          <a:xfrm>
            <a:off x="5000625" y="1730183"/>
            <a:ext cx="160020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21" i="1" dirty="0">
                <a:solidFill>
                  <a:srgbClr val="666666"/>
                </a:solidFill>
              </a:rPr>
              <a:t>Correctly predicted 1 (e.g., Predicted Spam, it was Spam)</a:t>
            </a:r>
            <a:endParaRPr lang="en-US" sz="621" dirty="0"/>
          </a:p>
        </p:txBody>
      </p:sp>
      <p:sp>
        <p:nvSpPr>
          <p:cNvPr id="8" name="Text 4"/>
          <p:cNvSpPr/>
          <p:nvPr/>
        </p:nvSpPr>
        <p:spPr>
          <a:xfrm>
            <a:off x="7000875" y="1351564"/>
            <a:ext cx="1600200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1976D2"/>
                </a:solidFill>
              </a:rPr>
              <a:t>TN</a:t>
            </a:r>
            <a:endParaRPr lang="en-US" sz="634" dirty="0"/>
          </a:p>
        </p:txBody>
      </p:sp>
      <p:sp>
        <p:nvSpPr>
          <p:cNvPr id="9" name="Text 5"/>
          <p:cNvSpPr/>
          <p:nvPr/>
        </p:nvSpPr>
        <p:spPr>
          <a:xfrm>
            <a:off x="7000875" y="1548017"/>
            <a:ext cx="1600200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4A4A4A"/>
                </a:solidFill>
              </a:rPr>
              <a:t>True Negative</a:t>
            </a:r>
            <a:endParaRPr lang="en-US" sz="674" dirty="0"/>
          </a:p>
        </p:txBody>
      </p:sp>
      <p:sp>
        <p:nvSpPr>
          <p:cNvPr id="10" name="Text 6"/>
          <p:cNvSpPr/>
          <p:nvPr/>
        </p:nvSpPr>
        <p:spPr>
          <a:xfrm>
            <a:off x="7000875" y="1730183"/>
            <a:ext cx="160020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21" i="1" dirty="0">
                <a:solidFill>
                  <a:srgbClr val="666666"/>
                </a:solidFill>
              </a:rPr>
              <a:t>Correctly predicted 0 (e.g., Predicted Not Spam, it was Not Spam)</a:t>
            </a:r>
            <a:endParaRPr lang="en-US" sz="621" dirty="0"/>
          </a:p>
        </p:txBody>
      </p:sp>
      <p:sp>
        <p:nvSpPr>
          <p:cNvPr id="11" name="Text 7"/>
          <p:cNvSpPr/>
          <p:nvPr/>
        </p:nvSpPr>
        <p:spPr>
          <a:xfrm>
            <a:off x="5000625" y="2358833"/>
            <a:ext cx="1600200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D32F2F"/>
                </a:solidFill>
              </a:rPr>
              <a:t>FP</a:t>
            </a:r>
            <a:endParaRPr lang="en-US" sz="634" dirty="0"/>
          </a:p>
        </p:txBody>
      </p:sp>
      <p:sp>
        <p:nvSpPr>
          <p:cNvPr id="12" name="Text 8"/>
          <p:cNvSpPr/>
          <p:nvPr/>
        </p:nvSpPr>
        <p:spPr>
          <a:xfrm>
            <a:off x="5000625" y="2555286"/>
            <a:ext cx="1600200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4A4A4A"/>
                </a:solidFill>
              </a:rPr>
              <a:t>False Positive (Type I Error)</a:t>
            </a:r>
            <a:endParaRPr lang="en-US" sz="674" dirty="0"/>
          </a:p>
        </p:txBody>
      </p:sp>
      <p:sp>
        <p:nvSpPr>
          <p:cNvPr id="13" name="Text 9"/>
          <p:cNvSpPr/>
          <p:nvPr/>
        </p:nvSpPr>
        <p:spPr>
          <a:xfrm>
            <a:off x="5000625" y="2737452"/>
            <a:ext cx="160020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i="1" dirty="0">
                <a:solidFill>
                  <a:srgbClr val="666666"/>
                </a:solidFill>
              </a:rPr>
              <a:t>The Alarm:</a:t>
            </a:r>
            <a:pPr algn="l" indent="0" marL="0">
              <a:lnSpc>
                <a:spcPts val="1000"/>
              </a:lnSpc>
              <a:buNone/>
            </a:pPr>
            <a:r>
              <a:rPr lang="en-US" sz="621" i="1" dirty="0">
                <a:solidFill>
                  <a:srgbClr val="666666"/>
                </a:solidFill>
              </a:rPr>
              <a:t> Incorrectly predicted 1 (e.g., </a:t>
            </a:r>
            <a:pPr algn="l" indent="0" marL="0">
              <a:lnSpc>
                <a:spcPts val="1000"/>
              </a:lnSpc>
              <a:buNone/>
            </a:pPr>
            <a:r>
              <a:rPr lang="en-US" sz="621" i="1" dirty="0">
                <a:solidFill>
                  <a:srgbClr val="666666"/>
                </a:solidFill>
              </a:rPr>
              <a:t>Predicted Spam, it was NOT Spam)</a:t>
            </a:r>
            <a:endParaRPr lang="en-US" sz="584" dirty="0"/>
          </a:p>
        </p:txBody>
      </p:sp>
      <p:sp>
        <p:nvSpPr>
          <p:cNvPr id="14" name="Text 10"/>
          <p:cNvSpPr/>
          <p:nvPr/>
        </p:nvSpPr>
        <p:spPr>
          <a:xfrm>
            <a:off x="7000875" y="2358833"/>
            <a:ext cx="1600200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D32F2F"/>
                </a:solidFill>
              </a:rPr>
              <a:t>FN</a:t>
            </a:r>
            <a:endParaRPr lang="en-US" sz="634" dirty="0"/>
          </a:p>
        </p:txBody>
      </p:sp>
      <p:sp>
        <p:nvSpPr>
          <p:cNvPr id="15" name="Text 11"/>
          <p:cNvSpPr/>
          <p:nvPr/>
        </p:nvSpPr>
        <p:spPr>
          <a:xfrm>
            <a:off x="7000875" y="2555286"/>
            <a:ext cx="1600200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4A4A4A"/>
                </a:solidFill>
              </a:rPr>
              <a:t>False Negative (Type II Error)</a:t>
            </a:r>
            <a:endParaRPr lang="en-US" sz="674" dirty="0"/>
          </a:p>
        </p:txBody>
      </p:sp>
      <p:sp>
        <p:nvSpPr>
          <p:cNvPr id="16" name="Text 12"/>
          <p:cNvSpPr/>
          <p:nvPr/>
        </p:nvSpPr>
        <p:spPr>
          <a:xfrm>
            <a:off x="7000875" y="2737452"/>
            <a:ext cx="160020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i="1" dirty="0">
                <a:solidFill>
                  <a:srgbClr val="666666"/>
                </a:solidFill>
              </a:rPr>
              <a:t>The Miss:</a:t>
            </a:r>
            <a:pPr algn="l" indent="0" marL="0">
              <a:lnSpc>
                <a:spcPts val="1000"/>
              </a:lnSpc>
              <a:buNone/>
            </a:pPr>
            <a:r>
              <a:rPr lang="en-US" sz="621" i="1" dirty="0">
                <a:solidFill>
                  <a:srgbClr val="666666"/>
                </a:solidFill>
              </a:rPr>
              <a:t> Incorrectly predicted 0 (e.g., </a:t>
            </a:r>
            <a:pPr algn="l" indent="0" marL="0">
              <a:lnSpc>
                <a:spcPts val="1000"/>
              </a:lnSpc>
              <a:buNone/>
            </a:pPr>
            <a:r>
              <a:rPr lang="en-US" sz="621" i="1" dirty="0">
                <a:solidFill>
                  <a:srgbClr val="666666"/>
                </a:solidFill>
              </a:rPr>
              <a:t>Predicted Not Spam, it was Spam)</a:t>
            </a:r>
            <a:endParaRPr lang="en-US" sz="584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8286750" cy="29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602" b="1" dirty="0">
                <a:solidFill>
                  <a:srgbClr val="1A1A1A"/>
                </a:solidFill>
              </a:rPr>
              <a:t>Precision, Recall, and F1-Score Guide Metric Selection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428625" y="1011538"/>
            <a:ext cx="2709686" cy="242888"/>
          </a:xfrm>
          <a:prstGeom prst="rect">
            <a:avLst/>
          </a:prstGeom>
          <a:noFill/>
          <a:ln/>
        </p:spPr>
        <p:txBody>
          <a:bodyPr wrap="none" lIns="0" tIns="0" rIns="0" bIns="68072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A1A1A"/>
                </a:solidFill>
              </a:rPr>
              <a:t>Recall (Sensitivity)</a:t>
            </a:r>
            <a:endParaRPr lang="en-US" sz="784" dirty="0"/>
          </a:p>
        </p:txBody>
      </p:sp>
      <p:sp>
        <p:nvSpPr>
          <p:cNvPr id="5" name="Shape 2"/>
          <p:cNvSpPr/>
          <p:nvPr/>
        </p:nvSpPr>
        <p:spPr>
          <a:xfrm>
            <a:off x="428625" y="1340151"/>
            <a:ext cx="2709686" cy="320018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6" name="Shape 3"/>
          <p:cNvSpPr/>
          <p:nvPr/>
        </p:nvSpPr>
        <p:spPr>
          <a:xfrm>
            <a:off x="428625" y="1340151"/>
            <a:ext cx="21431" cy="320018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7" name="Text 4"/>
          <p:cNvSpPr/>
          <p:nvPr/>
        </p:nvSpPr>
        <p:spPr>
          <a:xfrm>
            <a:off x="428625" y="1340151"/>
            <a:ext cx="2709686" cy="320018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1A1A1A"/>
                </a:solidFill>
              </a:rPr>
              <a:t>Recall = TP / (TP + FN)</a:t>
            </a:r>
            <a:endParaRPr lang="en-US" sz="674" dirty="0"/>
          </a:p>
        </p:txBody>
      </p:sp>
      <p:sp>
        <p:nvSpPr>
          <p:cNvPr id="8" name="Text 5"/>
          <p:cNvSpPr/>
          <p:nvPr/>
        </p:nvSpPr>
        <p:spPr>
          <a:xfrm>
            <a:off x="428625" y="1760181"/>
            <a:ext cx="2709686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4A4A4A"/>
                </a:solidFill>
              </a:rPr>
              <a:t>Out of all actual positives, how many did we correctly identify?</a:t>
            </a:r>
            <a:endParaRPr lang="en-US" sz="674" dirty="0"/>
          </a:p>
        </p:txBody>
      </p:sp>
      <p:sp>
        <p:nvSpPr>
          <p:cNvPr id="9" name="Shape 6"/>
          <p:cNvSpPr/>
          <p:nvPr/>
        </p:nvSpPr>
        <p:spPr>
          <a:xfrm>
            <a:off x="428625" y="1994474"/>
            <a:ext cx="2709686" cy="557213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0" name="Shape 7"/>
          <p:cNvSpPr/>
          <p:nvPr/>
        </p:nvSpPr>
        <p:spPr>
          <a:xfrm>
            <a:off x="428625" y="1994474"/>
            <a:ext cx="21431" cy="557213"/>
          </a:xfrm>
          <a:prstGeom prst="rect">
            <a:avLst/>
          </a:prstGeom>
          <a:solidFill>
            <a:srgbClr val="1976D2"/>
          </a:solidFill>
          <a:ln/>
        </p:spPr>
      </p:sp>
      <p:sp>
        <p:nvSpPr>
          <p:cNvPr id="11" name="Text 8"/>
          <p:cNvSpPr/>
          <p:nvPr/>
        </p:nvSpPr>
        <p:spPr>
          <a:xfrm>
            <a:off x="500063" y="2065911"/>
            <a:ext cx="2566811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1A1A1A"/>
                </a:solidFill>
              </a:rPr>
              <a:t>When It Matters</a:t>
            </a:r>
            <a:endParaRPr lang="en-US" sz="584" dirty="0"/>
          </a:p>
        </p:txBody>
      </p:sp>
      <p:sp>
        <p:nvSpPr>
          <p:cNvPr id="12" name="Text 9"/>
          <p:cNvSpPr/>
          <p:nvPr/>
        </p:nvSpPr>
        <p:spPr>
          <a:xfrm>
            <a:off x="500063" y="2223074"/>
            <a:ext cx="2566811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4A4A4A"/>
                </a:solidFill>
              </a:rPr>
              <a:t>When missing a positive is </a:t>
            </a:r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D32F2F"/>
                </a:solidFill>
              </a:rPr>
              <a:t>costly</a:t>
            </a:r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4A4A4A"/>
                </a:solidFill>
              </a:rPr>
              <a:t>. Minimize </a:t>
            </a:r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D32F2F"/>
                </a:solidFill>
              </a:rPr>
              <a:t>False Negatives</a:t>
            </a:r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4A4A4A"/>
                </a:solidFill>
              </a:rPr>
              <a:t> (The Miss)</a:t>
            </a:r>
            <a:endParaRPr lang="en-US" sz="621" dirty="0"/>
          </a:p>
        </p:txBody>
      </p:sp>
      <p:sp>
        <p:nvSpPr>
          <p:cNvPr id="13" name="Shape 10"/>
          <p:cNvSpPr/>
          <p:nvPr/>
        </p:nvSpPr>
        <p:spPr>
          <a:xfrm>
            <a:off x="428625" y="2623124"/>
            <a:ext cx="2709686" cy="4286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Shape 11"/>
          <p:cNvSpPr/>
          <p:nvPr/>
        </p:nvSpPr>
        <p:spPr>
          <a:xfrm>
            <a:off x="428625" y="2623124"/>
            <a:ext cx="21431" cy="428625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15" name="Text 12"/>
          <p:cNvSpPr/>
          <p:nvPr/>
        </p:nvSpPr>
        <p:spPr>
          <a:xfrm>
            <a:off x="500063" y="2694561"/>
            <a:ext cx="2566811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1A1A1A"/>
                </a:solidFill>
              </a:rPr>
              <a:t>Examples</a:t>
            </a:r>
            <a:endParaRPr lang="en-US" sz="584" dirty="0"/>
          </a:p>
        </p:txBody>
      </p:sp>
      <p:sp>
        <p:nvSpPr>
          <p:cNvPr id="16" name="Text 13"/>
          <p:cNvSpPr/>
          <p:nvPr/>
        </p:nvSpPr>
        <p:spPr>
          <a:xfrm>
            <a:off x="500063" y="2851724"/>
            <a:ext cx="2566811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4A4A4A"/>
                </a:solidFill>
              </a:rPr>
              <a:t>Disease detection, Fraud detection</a:t>
            </a:r>
            <a:endParaRPr lang="en-US" sz="621" dirty="0"/>
          </a:p>
        </p:txBody>
      </p:sp>
      <p:sp>
        <p:nvSpPr>
          <p:cNvPr id="17" name="Text 14"/>
          <p:cNvSpPr/>
          <p:nvPr/>
        </p:nvSpPr>
        <p:spPr>
          <a:xfrm>
            <a:off x="3352623" y="1011538"/>
            <a:ext cx="2709686" cy="242888"/>
          </a:xfrm>
          <a:prstGeom prst="rect">
            <a:avLst/>
          </a:prstGeom>
          <a:noFill/>
          <a:ln/>
        </p:spPr>
        <p:txBody>
          <a:bodyPr wrap="none" lIns="0" tIns="0" rIns="0" bIns="68072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A1A1A"/>
                </a:solidFill>
              </a:rPr>
              <a:t>Precision</a:t>
            </a:r>
            <a:endParaRPr lang="en-US" sz="784" dirty="0"/>
          </a:p>
        </p:txBody>
      </p:sp>
      <p:sp>
        <p:nvSpPr>
          <p:cNvPr id="18" name="Shape 15"/>
          <p:cNvSpPr/>
          <p:nvPr/>
        </p:nvSpPr>
        <p:spPr>
          <a:xfrm>
            <a:off x="3352623" y="1340151"/>
            <a:ext cx="2709686" cy="320018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9" name="Shape 16"/>
          <p:cNvSpPr/>
          <p:nvPr/>
        </p:nvSpPr>
        <p:spPr>
          <a:xfrm>
            <a:off x="3352623" y="1340151"/>
            <a:ext cx="21431" cy="320018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20" name="Text 17"/>
          <p:cNvSpPr/>
          <p:nvPr/>
        </p:nvSpPr>
        <p:spPr>
          <a:xfrm>
            <a:off x="3352623" y="1340151"/>
            <a:ext cx="2709686" cy="320018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1A1A1A"/>
                </a:solidFill>
              </a:rPr>
              <a:t>Precision = TP / (TP + FP)</a:t>
            </a:r>
            <a:endParaRPr lang="en-US" sz="674" dirty="0"/>
          </a:p>
        </p:txBody>
      </p:sp>
      <p:sp>
        <p:nvSpPr>
          <p:cNvPr id="21" name="Text 18"/>
          <p:cNvSpPr/>
          <p:nvPr/>
        </p:nvSpPr>
        <p:spPr>
          <a:xfrm>
            <a:off x="3352623" y="1760181"/>
            <a:ext cx="2709686" cy="2971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4A4A4A"/>
                </a:solidFill>
              </a:rPr>
              <a:t>Out of all predicted positives, how many were actually correct?</a:t>
            </a:r>
            <a:endParaRPr lang="en-US" sz="674" dirty="0"/>
          </a:p>
        </p:txBody>
      </p:sp>
      <p:sp>
        <p:nvSpPr>
          <p:cNvPr id="22" name="Shape 19"/>
          <p:cNvSpPr/>
          <p:nvPr/>
        </p:nvSpPr>
        <p:spPr>
          <a:xfrm>
            <a:off x="3352623" y="2143041"/>
            <a:ext cx="2709686" cy="557213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3" name="Shape 20"/>
          <p:cNvSpPr/>
          <p:nvPr/>
        </p:nvSpPr>
        <p:spPr>
          <a:xfrm>
            <a:off x="3352623" y="2143041"/>
            <a:ext cx="21431" cy="557213"/>
          </a:xfrm>
          <a:prstGeom prst="rect">
            <a:avLst/>
          </a:prstGeom>
          <a:solidFill>
            <a:srgbClr val="1976D2"/>
          </a:solidFill>
          <a:ln/>
        </p:spPr>
      </p:sp>
      <p:sp>
        <p:nvSpPr>
          <p:cNvPr id="24" name="Text 21"/>
          <p:cNvSpPr/>
          <p:nvPr/>
        </p:nvSpPr>
        <p:spPr>
          <a:xfrm>
            <a:off x="3424061" y="2214479"/>
            <a:ext cx="2566811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1A1A1A"/>
                </a:solidFill>
              </a:rPr>
              <a:t>When It Matters</a:t>
            </a:r>
            <a:endParaRPr lang="en-US" sz="584" dirty="0"/>
          </a:p>
        </p:txBody>
      </p:sp>
      <p:sp>
        <p:nvSpPr>
          <p:cNvPr id="25" name="Text 22"/>
          <p:cNvSpPr/>
          <p:nvPr/>
        </p:nvSpPr>
        <p:spPr>
          <a:xfrm>
            <a:off x="3424061" y="2371641"/>
            <a:ext cx="2566811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4A4A4A"/>
                </a:solidFill>
              </a:rPr>
              <a:t>When a false positive is </a:t>
            </a:r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D32F2F"/>
                </a:solidFill>
              </a:rPr>
              <a:t>costly</a:t>
            </a:r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4A4A4A"/>
                </a:solidFill>
              </a:rPr>
              <a:t>. Minimize </a:t>
            </a:r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D32F2F"/>
                </a:solidFill>
              </a:rPr>
              <a:t>False Positives</a:t>
            </a:r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4A4A4A"/>
                </a:solidFill>
              </a:rPr>
              <a:t> (The </a:t>
            </a:r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4A4A4A"/>
                </a:solidFill>
              </a:rPr>
              <a:t>Alarm)</a:t>
            </a:r>
            <a:endParaRPr lang="en-US" sz="621" dirty="0"/>
          </a:p>
        </p:txBody>
      </p:sp>
      <p:sp>
        <p:nvSpPr>
          <p:cNvPr id="26" name="Shape 23"/>
          <p:cNvSpPr/>
          <p:nvPr/>
        </p:nvSpPr>
        <p:spPr>
          <a:xfrm>
            <a:off x="3352623" y="2771691"/>
            <a:ext cx="2709686" cy="4286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Shape 24"/>
          <p:cNvSpPr/>
          <p:nvPr/>
        </p:nvSpPr>
        <p:spPr>
          <a:xfrm>
            <a:off x="3352623" y="2771691"/>
            <a:ext cx="21431" cy="428625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28" name="Text 25"/>
          <p:cNvSpPr/>
          <p:nvPr/>
        </p:nvSpPr>
        <p:spPr>
          <a:xfrm>
            <a:off x="3424061" y="2843129"/>
            <a:ext cx="2566811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1A1A1A"/>
                </a:solidFill>
              </a:rPr>
              <a:t>Examples</a:t>
            </a:r>
            <a:endParaRPr lang="en-US" sz="584" dirty="0"/>
          </a:p>
        </p:txBody>
      </p:sp>
      <p:sp>
        <p:nvSpPr>
          <p:cNvPr id="29" name="Text 26"/>
          <p:cNvSpPr/>
          <p:nvPr/>
        </p:nvSpPr>
        <p:spPr>
          <a:xfrm>
            <a:off x="3424061" y="3000291"/>
            <a:ext cx="2566811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4A4A4A"/>
                </a:solidFill>
              </a:rPr>
              <a:t>Spam filtering, Expensive offers</a:t>
            </a:r>
            <a:endParaRPr lang="en-US" sz="621" dirty="0"/>
          </a:p>
        </p:txBody>
      </p:sp>
      <p:sp>
        <p:nvSpPr>
          <p:cNvPr id="30" name="Text 27"/>
          <p:cNvSpPr/>
          <p:nvPr/>
        </p:nvSpPr>
        <p:spPr>
          <a:xfrm>
            <a:off x="6276622" y="1011538"/>
            <a:ext cx="2438726" cy="242888"/>
          </a:xfrm>
          <a:prstGeom prst="rect">
            <a:avLst/>
          </a:prstGeom>
          <a:noFill/>
          <a:ln/>
        </p:spPr>
        <p:txBody>
          <a:bodyPr wrap="none" lIns="0" tIns="0" rIns="0" bIns="68072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A1A1A"/>
                </a:solidFill>
              </a:rPr>
              <a:t>F1-Score</a:t>
            </a:r>
            <a:endParaRPr lang="en-US" sz="784" dirty="0"/>
          </a:p>
        </p:txBody>
      </p:sp>
      <p:sp>
        <p:nvSpPr>
          <p:cNvPr id="31" name="Shape 28"/>
          <p:cNvSpPr/>
          <p:nvPr/>
        </p:nvSpPr>
        <p:spPr>
          <a:xfrm>
            <a:off x="6276622" y="1340151"/>
            <a:ext cx="2438726" cy="320018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2" name="Shape 29"/>
          <p:cNvSpPr/>
          <p:nvPr/>
        </p:nvSpPr>
        <p:spPr>
          <a:xfrm>
            <a:off x="6276622" y="1340151"/>
            <a:ext cx="21431" cy="320018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33" name="Text 30"/>
          <p:cNvSpPr/>
          <p:nvPr/>
        </p:nvSpPr>
        <p:spPr>
          <a:xfrm>
            <a:off x="6276622" y="1340151"/>
            <a:ext cx="2438726" cy="320018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1A1A1A"/>
                </a:solidFill>
              </a:rPr>
              <a:t>F1 = 2 × (P × R) / (P + R)</a:t>
            </a:r>
            <a:endParaRPr lang="en-US" sz="674" dirty="0"/>
          </a:p>
        </p:txBody>
      </p:sp>
      <p:sp>
        <p:nvSpPr>
          <p:cNvPr id="34" name="Text 31"/>
          <p:cNvSpPr/>
          <p:nvPr/>
        </p:nvSpPr>
        <p:spPr>
          <a:xfrm>
            <a:off x="6276622" y="1760181"/>
            <a:ext cx="2438726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4A4A4A"/>
                </a:solidFill>
              </a:rPr>
              <a:t>Harmonic mean of Precision and Recall</a:t>
            </a:r>
            <a:endParaRPr lang="en-US" sz="674" dirty="0"/>
          </a:p>
        </p:txBody>
      </p:sp>
      <p:sp>
        <p:nvSpPr>
          <p:cNvPr id="35" name="Shape 32"/>
          <p:cNvSpPr/>
          <p:nvPr/>
        </p:nvSpPr>
        <p:spPr>
          <a:xfrm>
            <a:off x="6276622" y="1994474"/>
            <a:ext cx="2438726" cy="557213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6" name="Shape 33"/>
          <p:cNvSpPr/>
          <p:nvPr/>
        </p:nvSpPr>
        <p:spPr>
          <a:xfrm>
            <a:off x="6276622" y="1994474"/>
            <a:ext cx="21431" cy="557213"/>
          </a:xfrm>
          <a:prstGeom prst="rect">
            <a:avLst/>
          </a:prstGeom>
          <a:solidFill>
            <a:srgbClr val="1976D2"/>
          </a:solidFill>
          <a:ln/>
        </p:spPr>
      </p:sp>
      <p:sp>
        <p:nvSpPr>
          <p:cNvPr id="37" name="Text 34"/>
          <p:cNvSpPr/>
          <p:nvPr/>
        </p:nvSpPr>
        <p:spPr>
          <a:xfrm>
            <a:off x="6348059" y="2065911"/>
            <a:ext cx="2295851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1A1A1A"/>
                </a:solidFill>
              </a:rPr>
              <a:t>When It Matters</a:t>
            </a:r>
            <a:endParaRPr lang="en-US" sz="584" dirty="0"/>
          </a:p>
        </p:txBody>
      </p:sp>
      <p:sp>
        <p:nvSpPr>
          <p:cNvPr id="38" name="Text 35"/>
          <p:cNvSpPr/>
          <p:nvPr/>
        </p:nvSpPr>
        <p:spPr>
          <a:xfrm>
            <a:off x="6348059" y="2223074"/>
            <a:ext cx="2295851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4A4A4A"/>
                </a:solidFill>
              </a:rPr>
              <a:t>Need </a:t>
            </a:r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D32F2F"/>
                </a:solidFill>
              </a:rPr>
              <a:t>balance</a:t>
            </a:r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4A4A4A"/>
                </a:solidFill>
              </a:rPr>
              <a:t> between precision and recall. Ideal for </a:t>
            </a:r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D32F2F"/>
                </a:solidFill>
              </a:rPr>
              <a:t>imbalanced data</a:t>
            </a:r>
            <a:endParaRPr lang="en-US" sz="621" dirty="0"/>
          </a:p>
        </p:txBody>
      </p:sp>
      <p:sp>
        <p:nvSpPr>
          <p:cNvPr id="39" name="Shape 36"/>
          <p:cNvSpPr/>
          <p:nvPr/>
        </p:nvSpPr>
        <p:spPr>
          <a:xfrm>
            <a:off x="6276622" y="2623124"/>
            <a:ext cx="2438726" cy="4286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0" name="Shape 37"/>
          <p:cNvSpPr/>
          <p:nvPr/>
        </p:nvSpPr>
        <p:spPr>
          <a:xfrm>
            <a:off x="6276622" y="2623124"/>
            <a:ext cx="21431" cy="428625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41" name="Text 38"/>
          <p:cNvSpPr/>
          <p:nvPr/>
        </p:nvSpPr>
        <p:spPr>
          <a:xfrm>
            <a:off x="6348059" y="2694561"/>
            <a:ext cx="2295851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1A1A1A"/>
                </a:solidFill>
              </a:rPr>
              <a:t>Advantage</a:t>
            </a:r>
            <a:endParaRPr lang="en-US" sz="584" dirty="0"/>
          </a:p>
        </p:txBody>
      </p:sp>
      <p:sp>
        <p:nvSpPr>
          <p:cNvPr id="42" name="Text 39"/>
          <p:cNvSpPr/>
          <p:nvPr/>
        </p:nvSpPr>
        <p:spPr>
          <a:xfrm>
            <a:off x="6348059" y="2851724"/>
            <a:ext cx="2295851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4A4A4A"/>
                </a:solidFill>
              </a:rPr>
              <a:t>Single metric for overall performance</a:t>
            </a:r>
            <a:endParaRPr lang="en-US" sz="621" dirty="0"/>
          </a:p>
        </p:txBody>
      </p:sp>
      <p:pic>
        <p:nvPicPr>
          <p:cNvPr id="4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048" y="3414629"/>
            <a:ext cx="2000250" cy="112745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3857625" cy="29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602" b="1" dirty="0">
                <a:solidFill>
                  <a:srgbClr val="1A1A1A"/>
                </a:solidFill>
              </a:rPr>
              <a:t>Key Takeaways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428625" y="940101"/>
            <a:ext cx="171450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D32F2F"/>
                </a:solidFill>
              </a:rPr>
              <a:t>1</a:t>
            </a:r>
            <a:endParaRPr lang="en-US" sz="885" dirty="0"/>
          </a:p>
        </p:txBody>
      </p:sp>
      <p:sp>
        <p:nvSpPr>
          <p:cNvPr id="5" name="Text 2"/>
          <p:cNvSpPr/>
          <p:nvPr/>
        </p:nvSpPr>
        <p:spPr>
          <a:xfrm>
            <a:off x="714375" y="940101"/>
            <a:ext cx="2049977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1A1A1A"/>
                </a:solidFill>
              </a:rPr>
              <a:t>Linear Regression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4A4A4A"/>
                </a:solidFill>
              </a:rPr>
              <a:t> is for continuous output</a:t>
            </a:r>
            <a:endParaRPr lang="en-US" sz="683" dirty="0"/>
          </a:p>
        </p:txBody>
      </p:sp>
      <p:sp>
        <p:nvSpPr>
          <p:cNvPr id="6" name="Text 3"/>
          <p:cNvSpPr/>
          <p:nvPr/>
        </p:nvSpPr>
        <p:spPr>
          <a:xfrm>
            <a:off x="428625" y="1261570"/>
            <a:ext cx="171450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D32F2F"/>
                </a:solidFill>
              </a:rPr>
              <a:t>2</a:t>
            </a:r>
            <a:endParaRPr lang="en-US" sz="885" dirty="0"/>
          </a:p>
        </p:txBody>
      </p:sp>
      <p:sp>
        <p:nvSpPr>
          <p:cNvPr id="7" name="Text 4"/>
          <p:cNvSpPr/>
          <p:nvPr/>
        </p:nvSpPr>
        <p:spPr>
          <a:xfrm>
            <a:off x="714375" y="1261570"/>
            <a:ext cx="3571875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1A1A1A"/>
                </a:solidFill>
              </a:rPr>
              <a:t>Logistic Regression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4A4A4A"/>
                </a:solidFill>
              </a:rPr>
              <a:t> is for categorical (classification) output using the 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4A4A4A"/>
                </a:solidFill>
              </a:rPr>
              <a:t>Sigmoid Function</a:t>
            </a:r>
            <a:endParaRPr lang="en-US" sz="683" dirty="0"/>
          </a:p>
        </p:txBody>
      </p:sp>
      <p:sp>
        <p:nvSpPr>
          <p:cNvPr id="8" name="Text 5"/>
          <p:cNvSpPr/>
          <p:nvPr/>
        </p:nvSpPr>
        <p:spPr>
          <a:xfrm>
            <a:off x="428625" y="1690195"/>
            <a:ext cx="171450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D32F2F"/>
                </a:solidFill>
              </a:rPr>
              <a:t>3</a:t>
            </a:r>
            <a:endParaRPr lang="en-US" sz="885" dirty="0"/>
          </a:p>
        </p:txBody>
      </p:sp>
      <p:sp>
        <p:nvSpPr>
          <p:cNvPr id="9" name="Text 6"/>
          <p:cNvSpPr/>
          <p:nvPr/>
        </p:nvSpPr>
        <p:spPr>
          <a:xfrm>
            <a:off x="714375" y="1690195"/>
            <a:ext cx="247224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4A4A4A"/>
                </a:solidFill>
              </a:rPr>
              <a:t>Simple </a:t>
            </a:r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1A1A1A"/>
                </a:solidFill>
              </a:rPr>
              <a:t>Accuracy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4A4A4A"/>
                </a:solidFill>
              </a:rPr>
              <a:t> is misleading with imbalanced data</a:t>
            </a:r>
            <a:endParaRPr lang="en-US" sz="727" dirty="0"/>
          </a:p>
        </p:txBody>
      </p:sp>
      <p:sp>
        <p:nvSpPr>
          <p:cNvPr id="10" name="Text 7"/>
          <p:cNvSpPr/>
          <p:nvPr/>
        </p:nvSpPr>
        <p:spPr>
          <a:xfrm>
            <a:off x="428625" y="2011663"/>
            <a:ext cx="171450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D32F2F"/>
                </a:solidFill>
              </a:rPr>
              <a:t>4</a:t>
            </a:r>
            <a:endParaRPr lang="en-US" sz="885" dirty="0"/>
          </a:p>
        </p:txBody>
      </p:sp>
      <p:sp>
        <p:nvSpPr>
          <p:cNvPr id="11" name="Text 8"/>
          <p:cNvSpPr/>
          <p:nvPr/>
        </p:nvSpPr>
        <p:spPr>
          <a:xfrm>
            <a:off x="714375" y="2011663"/>
            <a:ext cx="286428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4A4A4A"/>
                </a:solidFill>
              </a:rPr>
              <a:t>The </a:t>
            </a:r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1A1A1A"/>
                </a:solidFill>
              </a:rPr>
              <a:t>Confusion Matrix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4A4A4A"/>
                </a:solidFill>
              </a:rPr>
              <a:t> is essential for deep model evaluation</a:t>
            </a:r>
            <a:endParaRPr lang="en-US" sz="727" dirty="0"/>
          </a:p>
        </p:txBody>
      </p:sp>
      <p:sp>
        <p:nvSpPr>
          <p:cNvPr id="12" name="Text 9"/>
          <p:cNvSpPr/>
          <p:nvPr/>
        </p:nvSpPr>
        <p:spPr>
          <a:xfrm>
            <a:off x="428625" y="2333132"/>
            <a:ext cx="171450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D32F2F"/>
                </a:solidFill>
              </a:rPr>
              <a:t>5</a:t>
            </a:r>
            <a:endParaRPr lang="en-US" sz="885" dirty="0"/>
          </a:p>
        </p:txBody>
      </p:sp>
      <p:sp>
        <p:nvSpPr>
          <p:cNvPr id="13" name="Text 10"/>
          <p:cNvSpPr/>
          <p:nvPr/>
        </p:nvSpPr>
        <p:spPr>
          <a:xfrm>
            <a:off x="714375" y="2333132"/>
            <a:ext cx="3571875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4A4A4A"/>
                </a:solidFill>
              </a:rPr>
              <a:t>Choose metrics (Precision, Recall, F1) based on the </a:t>
            </a:r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1A1A1A"/>
                </a:solidFill>
              </a:rPr>
              <a:t>cost of error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4A4A4A"/>
                </a:solidFill>
              </a:rPr>
              <a:t> in your 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4A4A4A"/>
                </a:solidFill>
              </a:rPr>
              <a:t>scenario</a:t>
            </a:r>
            <a:endParaRPr lang="en-US" sz="727" dirty="0"/>
          </a:p>
        </p:txBody>
      </p:sp>
      <p:sp>
        <p:nvSpPr>
          <p:cNvPr id="14" name="Text 11"/>
          <p:cNvSpPr/>
          <p:nvPr/>
        </p:nvSpPr>
        <p:spPr>
          <a:xfrm>
            <a:off x="428625" y="4414838"/>
            <a:ext cx="3857625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397" b="1" dirty="0">
                <a:solidFill>
                  <a:srgbClr val="D32F2F"/>
                </a:solidFill>
              </a:rPr>
              <a:t>Questions?</a:t>
            </a:r>
            <a:endParaRPr lang="en-US" sz="1397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4875" y="1214438"/>
            <a:ext cx="4000500" cy="271462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2025-11-10T15:21:10Z</dcterms:created>
  <dcterms:modified xsi:type="dcterms:W3CDTF">2025-11-10T15:21:10Z</dcterms:modified>
</cp:coreProperties>
</file>